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govern AI use at TTC, starting with CES AI Buddy. The objection we hear is not mature enough for AI yet; maturity is built by doing the work, and the first piece is seeing what leaves. CES is the first app; other TTC apps repoint to the same gateway later. Problem. AI Buddy is our CES code assistant: Roslyn graph (master.json) plus source plus schema, answered by a hosted model. Leadership asks three questions: what is going out, how safe are models outside our enterprise framework, and does any of this satisfy the acts. The graph is structure only (no code text); source code and schema text travel in the prompt, so the prompt is the thing to govern. Graph figures are from our generated master.json.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Morgan Stanley (OpenAI customer story and Morgan Stanley press release, June 2024; self-reported); Auditor General of Ontario, Use of AI (2026); OSFI Guideline E-23; Scotiabank and BMO published material; City of Toronto generative AI guidance (2025). Message: nothing here makes us compliant. It produces evidence, which most places do not have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Apps are repointed at one endpoint; the firewall blocks direct provider access so nobody routes around it, the way payment processors were treated. The gateway classifies, checks policy, masks, waits for a person on risky requests, then writes a signed, chained receipt. Destinations: hosted API, Canadian cloud region (Bedrock or Vertex AI), self-hosted open-weight model. Claude is not offered on premises. Begin log-only. On the audit trail: ITSG-33 AU-9 (protection of audit information, with AU-9(3) cryptographic protection) and AU-10 (non-repudiation) describe the same need as the signed, chained receipts. OSFI B-13 is bank guidance; for TTC it is an external benchmark, not a requirement. Receipts give evidence of control, not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Every step is recorded in a signed, hash-chained audit trail. The approval is bound to the exact payload: if one character changes after approval, release is blocked. Approvers cannot unmask values. Secrets in the question (tenant ID, client secret, SharePoint URL) are masked, and still need two approvals, one from the application owner or a director. The screenshot is from the working POC with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Timeline follows the proposal: weeks 1-2 set up, 3-6 log-only baseline, 7-10 policy, masking, approval and model comparison, 11-12 review and go/no-go. Change from the earlier sandbox-only proposal: this version runs on the real CES code graph and TTC infrastructure, so legal and privacy review of data handling must precede any real prompt leaving TTC; the log-only phase keeps the first weeks non-intrusive. Success: every call routed and receipted, tampering detected, policy misses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2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5943600" cy="173736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FD8D6"/>
                </a:solidFill>
              </a:rPr>
              <a:t>CES AI Buddy with data governance</a:t>
            </a:r>
            <a:endParaRPr lang="en-US" sz="1000" dirty="0"/>
          </a:p>
        </p:txBody>
      </p:sp>
      <p:sp>
        <p:nvSpPr>
          <p:cNvPr id="4" name="Text 1"/>
          <p:cNvSpPr/>
          <p:nvPr/>
        </p:nvSpPr>
        <p:spPr>
          <a:xfrm>
            <a:off x="7315200" y="6400800"/>
            <a:ext cx="3657600" cy="274320"/>
          </a:xfrm>
          <a:prstGeom prst="rect">
            <a:avLst/>
          </a:prstGeom>
          <a:noFill/>
          <a:ln/>
        </p:spPr>
        <p:txBody>
          <a:bodyPr wrap="square" lIns="0" tIns="0" rIns="0" bIns="0" rtlCol="0" anchor="ctr"/>
          <a:lstStyle/>
          <a:p>
            <a:pPr algn="r" indent="0" marL="0">
              <a:buNone/>
            </a:pPr>
            <a:r>
              <a:rPr lang="en-US" sz="1000" dirty="0">
                <a:solidFill>
                  <a:srgbClr val="BFD8D6"/>
                </a:solidFill>
              </a:rPr>
              <a:t>Sandeep Kanao / Sylvia Lim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8D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5943600" cy="1645920"/>
          </a:xfrm>
          <a:prstGeom prst="rect">
            <a:avLst/>
          </a:prstGeom>
          <a:noFill/>
          <a:ln/>
        </p:spPr>
        <p:txBody>
          <a:bodyPr wrap="square" rtlCol="0"/>
          <a:lstStyle>
            <a:lvl1pPr algn="l" indent="0" marL="0">
              <a:buNone/>
              <a:defRPr lang="en-US" sz="3600" b="1" dirty="0">
                <a:solidFill>
                  <a:srgbClr val="0E2F33"/>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2666B"/>
                </a:solidFill>
              </a:rPr>
              <a:t>CES AI Buddy with data governance</a:t>
            </a:r>
            <a:endParaRPr lang="en-US" sz="1000" dirty="0"/>
          </a:p>
        </p:txBody>
      </p:sp>
      <p:sp>
        <p:nvSpPr>
          <p:cNvPr id="4" name="Text 1"/>
          <p:cNvSpPr/>
          <p:nvPr/>
        </p:nvSpPr>
        <p:spPr>
          <a:xfrm>
            <a:off x="7315200" y="6400800"/>
            <a:ext cx="3657600" cy="274320"/>
          </a:xfrm>
          <a:prstGeom prst="rect">
            <a:avLst/>
          </a:prstGeom>
          <a:noFill/>
          <a:ln/>
        </p:spPr>
        <p:txBody>
          <a:bodyPr wrap="square" lIns="0" tIns="0" rIns="0" bIns="0" rtlCol="0" anchor="ctr"/>
          <a:lstStyle/>
          <a:p>
            <a:pPr algn="r" indent="0" marL="0">
              <a:buNone/>
            </a:pPr>
            <a:r>
              <a:rPr lang="en-US" sz="1000" dirty="0">
                <a:solidFill>
                  <a:srgbClr val="52666B"/>
                </a:solidFill>
              </a:rPr>
              <a:t>Sandeep Kanao / Sylvia Lim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666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rgbClr val="0E2F33"/>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2666B"/>
                </a:solidFill>
              </a:rPr>
              <a:t>CES AI Buddy with data governance</a:t>
            </a:r>
            <a:endParaRPr lang="en-US" sz="1000" dirty="0"/>
          </a:p>
        </p:txBody>
      </p:sp>
      <p:sp>
        <p:nvSpPr>
          <p:cNvPr id="4" name="Text 1"/>
          <p:cNvSpPr/>
          <p:nvPr/>
        </p:nvSpPr>
        <p:spPr>
          <a:xfrm>
            <a:off x="7315200" y="6400800"/>
            <a:ext cx="3657600" cy="274320"/>
          </a:xfrm>
          <a:prstGeom prst="rect">
            <a:avLst/>
          </a:prstGeom>
          <a:noFill/>
          <a:ln/>
        </p:spPr>
        <p:txBody>
          <a:bodyPr wrap="square" lIns="0" tIns="0" rIns="0" bIns="0" rtlCol="0" anchor="ctr"/>
          <a:lstStyle/>
          <a:p>
            <a:pPr algn="r" indent="0" marL="0">
              <a:buNone/>
            </a:pPr>
            <a:r>
              <a:rPr lang="en-US" sz="1000" dirty="0">
                <a:solidFill>
                  <a:srgbClr val="52666B"/>
                </a:solidFill>
              </a:rPr>
              <a:t>Sandeep Kanao / Sylvia Lim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666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E2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9728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BFD8D6"/>
                </a:solidFill>
              </a:rPr>
              <a:t>CES AI Buddy with data governance</a:t>
            </a:r>
            <a:endParaRPr lang="en-US" sz="1000" dirty="0"/>
          </a:p>
        </p:txBody>
      </p:sp>
      <p:sp>
        <p:nvSpPr>
          <p:cNvPr id="4" name="Text 1"/>
          <p:cNvSpPr/>
          <p:nvPr/>
        </p:nvSpPr>
        <p:spPr>
          <a:xfrm>
            <a:off x="7315200" y="6400800"/>
            <a:ext cx="3657600" cy="274320"/>
          </a:xfrm>
          <a:prstGeom prst="rect">
            <a:avLst/>
          </a:prstGeom>
          <a:noFill/>
          <a:ln/>
        </p:spPr>
        <p:txBody>
          <a:bodyPr wrap="square" lIns="0" tIns="0" rIns="0" bIns="0" rtlCol="0" anchor="ctr"/>
          <a:lstStyle/>
          <a:p>
            <a:pPr algn="r" indent="0" marL="0">
              <a:buNone/>
            </a:pPr>
            <a:r>
              <a:rPr lang="en-US" sz="1000" dirty="0">
                <a:solidFill>
                  <a:srgbClr val="BFD8D6"/>
                </a:solidFill>
              </a:rPr>
              <a:t>Sandeep Kanao / Sylvia Lim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8D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8D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5943600" cy="1645920"/>
          </a:xfrm>
          <a:prstGeom prst="rect">
            <a:avLst/>
          </a:prstGeom>
          <a:noFill/>
          <a:ln/>
        </p:spPr>
        <p:txBody>
          <a:bodyPr wrap="square" lIns="0" tIns="0" rIns="0" bIns="0" rtlCol="0" anchor="t"/>
          <a:lstStyle/>
          <a:p>
            <a:pPr algn="l" indent="0" marL="0">
              <a:buNone/>
            </a:pPr>
            <a:r>
              <a:rPr lang="en-US" sz="3600" b="1" dirty="0">
                <a:solidFill>
                  <a:srgbClr val="0E2F33"/>
                </a:solidFill>
              </a:rPr>
              <a:t>Govern AI use at TTC, starting with CES AI Buddy</a:t>
            </a:r>
            <a:endParaRPr lang="en-US" sz="3600" dirty="0"/>
          </a:p>
        </p:txBody>
      </p:sp>
      <p:sp>
        <p:nvSpPr>
          <p:cNvPr id="3" name="subtitle"/>
          <p:cNvSpPr txBox="1"/>
          <p:nvPr/>
        </p:nvSpPr>
        <p:spPr>
          <a:xfrm>
            <a:off x="548640" y="2331720"/>
            <a:ext cx="5760720" cy="1188720"/>
          </a:xfrm>
          <a:prstGeom prst="rect">
            <a:avLst/>
          </a:prstGeom>
          <a:noFill/>
          <a:ln/>
        </p:spPr>
        <p:txBody>
          <a:bodyPr wrap="square" lIns="0" tIns="0" rIns="0" bIns="0" rtlCol="0" anchor="t"/>
          <a:lstStyle/>
          <a:p>
            <a:pPr indent="0" marL="0">
              <a:buNone/>
            </a:pPr>
            <a:r>
              <a:rPr lang="en-US" sz="1800" dirty="0">
                <a:solidFill>
                  <a:srgbClr val="52666B"/>
                </a:solidFill>
              </a:rPr>
              <a:t>“Not mature enough for AI yet” is heard everywhere. Maturity starts with seeing what actually leaves. CES AI Buddy goes first; other TTC apps repoint to the same gateway.</a:t>
            </a:r>
            <a:endParaRPr lang="en-US" sz="1800" dirty="0"/>
          </a:p>
        </p:txBody>
      </p:sp>
      <p:sp>
        <p:nvSpPr>
          <p:cNvPr id="4" name="solve heading"/>
          <p:cNvSpPr txBox="1"/>
          <p:nvPr/>
        </p:nvSpPr>
        <p:spPr>
          <a:xfrm>
            <a:off x="548640" y="3657600"/>
            <a:ext cx="5760720" cy="320040"/>
          </a:xfrm>
          <a:prstGeom prst="rect">
            <a:avLst/>
          </a:prstGeom>
          <a:noFill/>
          <a:ln/>
        </p:spPr>
        <p:txBody>
          <a:bodyPr wrap="square" lIns="0" tIns="0" rIns="0" bIns="0" rtlCol="0" anchor="t"/>
          <a:lstStyle/>
          <a:p>
            <a:pPr indent="0" marL="0">
              <a:buNone/>
            </a:pPr>
            <a:r>
              <a:rPr lang="en-US" sz="2000" b="1" dirty="0">
                <a:solidFill>
                  <a:srgbClr val="0E2F33"/>
                </a:solidFill>
              </a:rPr>
              <a:t>What we want to solve</a:t>
            </a:r>
            <a:endParaRPr lang="en-US" sz="2000" dirty="0"/>
          </a:p>
        </p:txBody>
      </p:sp>
      <p:sp>
        <p:nvSpPr>
          <p:cNvPr id="5" name="solve body"/>
          <p:cNvSpPr txBox="1"/>
          <p:nvPr/>
        </p:nvSpPr>
        <p:spPr>
          <a:xfrm>
            <a:off x="548640" y="4023360"/>
            <a:ext cx="5760720" cy="868680"/>
          </a:xfrm>
          <a:prstGeom prst="rect">
            <a:avLst/>
          </a:prstGeom>
          <a:noFill/>
          <a:ln/>
        </p:spPr>
        <p:txBody>
          <a:bodyPr wrap="square" lIns="0" tIns="0" rIns="0" bIns="0" rtlCol="0" anchor="t"/>
          <a:lstStyle/>
          <a:p>
            <a:pPr indent="0" marL="0">
              <a:buNone/>
            </a:pPr>
            <a:r>
              <a:rPr lang="en-US" sz="1400" dirty="0">
                <a:solidFill>
                  <a:srgbClr val="0E2F33"/>
                </a:solidFill>
              </a:rPr>
              <a:t>AI Buddy answers CES developer questions from our Roslyn code graph, source code and database schema, using a hosted model. It works. What we cannot do today is show what left, or who approved it.</a:t>
            </a:r>
            <a:endParaRPr lang="en-US" sz="1400" dirty="0"/>
          </a:p>
        </p:txBody>
      </p:sp>
      <p:sp>
        <p:nvSpPr>
          <p:cNvPr id="6" name="question marker 0"/>
          <p:cNvSpPr/>
          <p:nvPr/>
        </p:nvSpPr>
        <p:spPr>
          <a:xfrm>
            <a:off x="548640" y="5093208"/>
            <a:ext cx="146304" cy="146304"/>
          </a:xfrm>
          <a:prstGeom prst="ellipse">
            <a:avLst/>
          </a:prstGeom>
          <a:solidFill>
            <a:srgbClr val="E39B2D"/>
          </a:solidFill>
          <a:ln w="12700">
            <a:solidFill>
              <a:srgbClr val="E39B2D"/>
            </a:solidFill>
            <a:prstDash val="solid"/>
          </a:ln>
        </p:spPr>
      </p:sp>
      <p:sp>
        <p:nvSpPr>
          <p:cNvPr id="7" name="question 0"/>
          <p:cNvSpPr txBox="1"/>
          <p:nvPr/>
        </p:nvSpPr>
        <p:spPr>
          <a:xfrm>
            <a:off x="822960" y="5029200"/>
            <a:ext cx="5486400" cy="292608"/>
          </a:xfrm>
          <a:prstGeom prst="rect">
            <a:avLst/>
          </a:prstGeom>
          <a:noFill/>
          <a:ln/>
        </p:spPr>
        <p:txBody>
          <a:bodyPr wrap="square" lIns="0" tIns="0" rIns="0" bIns="0" rtlCol="0" anchor="ctr"/>
          <a:lstStyle/>
          <a:p>
            <a:pPr indent="0" marL="0">
              <a:buNone/>
            </a:pPr>
            <a:r>
              <a:rPr lang="en-US" sz="1400" dirty="0">
                <a:solidFill>
                  <a:srgbClr val="0E2F33"/>
                </a:solidFill>
              </a:rPr>
              <a:t>What is going out?</a:t>
            </a:r>
            <a:endParaRPr lang="en-US" sz="1400" dirty="0"/>
          </a:p>
        </p:txBody>
      </p:sp>
      <p:sp>
        <p:nvSpPr>
          <p:cNvPr id="8" name="question marker 1"/>
          <p:cNvSpPr/>
          <p:nvPr/>
        </p:nvSpPr>
        <p:spPr>
          <a:xfrm>
            <a:off x="548640" y="5458968"/>
            <a:ext cx="146304" cy="146304"/>
          </a:xfrm>
          <a:prstGeom prst="ellipse">
            <a:avLst/>
          </a:prstGeom>
          <a:solidFill>
            <a:srgbClr val="E39B2D"/>
          </a:solidFill>
          <a:ln w="12700">
            <a:solidFill>
              <a:srgbClr val="E39B2D"/>
            </a:solidFill>
            <a:prstDash val="solid"/>
          </a:ln>
        </p:spPr>
      </p:sp>
      <p:sp>
        <p:nvSpPr>
          <p:cNvPr id="9" name="question 1"/>
          <p:cNvSpPr txBox="1"/>
          <p:nvPr/>
        </p:nvSpPr>
        <p:spPr>
          <a:xfrm>
            <a:off x="822960" y="5394960"/>
            <a:ext cx="5486400" cy="292608"/>
          </a:xfrm>
          <a:prstGeom prst="rect">
            <a:avLst/>
          </a:prstGeom>
          <a:noFill/>
          <a:ln/>
        </p:spPr>
        <p:txBody>
          <a:bodyPr wrap="square" lIns="0" tIns="0" rIns="0" bIns="0" rtlCol="0" anchor="ctr"/>
          <a:lstStyle/>
          <a:p>
            <a:pPr indent="0" marL="0">
              <a:buNone/>
            </a:pPr>
            <a:r>
              <a:rPr lang="en-US" sz="1400" dirty="0">
                <a:solidFill>
                  <a:srgbClr val="0E2F33"/>
                </a:solidFill>
              </a:rPr>
              <a:t>The models are not on our enterprise framework. How safe is it?</a:t>
            </a:r>
            <a:endParaRPr lang="en-US" sz="1400" dirty="0"/>
          </a:p>
        </p:txBody>
      </p:sp>
      <p:sp>
        <p:nvSpPr>
          <p:cNvPr id="10" name="question marker 2"/>
          <p:cNvSpPr/>
          <p:nvPr/>
        </p:nvSpPr>
        <p:spPr>
          <a:xfrm>
            <a:off x="548640" y="5824728"/>
            <a:ext cx="146304" cy="146304"/>
          </a:xfrm>
          <a:prstGeom prst="ellipse">
            <a:avLst/>
          </a:prstGeom>
          <a:solidFill>
            <a:srgbClr val="E39B2D"/>
          </a:solidFill>
          <a:ln w="12700">
            <a:solidFill>
              <a:srgbClr val="E39B2D"/>
            </a:solidFill>
            <a:prstDash val="solid"/>
          </a:ln>
        </p:spPr>
      </p:sp>
      <p:sp>
        <p:nvSpPr>
          <p:cNvPr id="11" name="question 2"/>
          <p:cNvSpPr txBox="1"/>
          <p:nvPr/>
        </p:nvSpPr>
        <p:spPr>
          <a:xfrm>
            <a:off x="822960" y="5760720"/>
            <a:ext cx="5486400" cy="292608"/>
          </a:xfrm>
          <a:prstGeom prst="rect">
            <a:avLst/>
          </a:prstGeom>
          <a:noFill/>
          <a:ln/>
        </p:spPr>
        <p:txBody>
          <a:bodyPr wrap="square" lIns="0" tIns="0" rIns="0" bIns="0" rtlCol="0" anchor="ctr"/>
          <a:lstStyle/>
          <a:p>
            <a:pPr indent="0" marL="0">
              <a:buNone/>
            </a:pPr>
            <a:r>
              <a:rPr lang="en-US" sz="1400" dirty="0">
                <a:solidFill>
                  <a:srgbClr val="0E2F33"/>
                </a:solidFill>
              </a:rPr>
              <a:t>Does any of this satisfy the acts we must follow?</a:t>
            </a:r>
            <a:endParaRPr lang="en-US" sz="1400" dirty="0"/>
          </a:p>
        </p:txBody>
      </p:sp>
      <p:sp>
        <p:nvSpPr>
          <p:cNvPr id="12" name="code card"/>
          <p:cNvSpPr/>
          <p:nvPr/>
        </p:nvSpPr>
        <p:spPr>
          <a:xfrm>
            <a:off x="6720840" y="548640"/>
            <a:ext cx="4937760" cy="3611880"/>
          </a:xfrm>
          <a:prstGeom prst="roundRect">
            <a:avLst>
              <a:gd name="adj" fmla="val 2025"/>
            </a:avLst>
          </a:prstGeom>
          <a:solidFill>
            <a:srgbClr val="EEF4F4"/>
          </a:solidFill>
          <a:ln w="12700">
            <a:solidFill>
              <a:srgbClr val="C9D8D8"/>
            </a:solidFill>
            <a:prstDash val="solid"/>
          </a:ln>
        </p:spPr>
      </p:sp>
      <p:sp>
        <p:nvSpPr>
          <p:cNvPr id="13" name="code card caption"/>
          <p:cNvSpPr txBox="1"/>
          <p:nvPr/>
        </p:nvSpPr>
        <p:spPr>
          <a:xfrm>
            <a:off x="6949440" y="685800"/>
            <a:ext cx="4480560" cy="274320"/>
          </a:xfrm>
          <a:prstGeom prst="rect">
            <a:avLst/>
          </a:prstGeom>
          <a:noFill/>
          <a:ln/>
        </p:spPr>
        <p:txBody>
          <a:bodyPr wrap="square" lIns="0" tIns="0" rIns="0" bIns="0" rtlCol="0" anchor="t"/>
          <a:lstStyle/>
          <a:p>
            <a:pPr indent="0" marL="0">
              <a:buNone/>
            </a:pPr>
            <a:r>
              <a:rPr lang="en-US" sz="1200" b="1" dirty="0">
                <a:solidFill>
                  <a:srgbClr val="52666B"/>
                </a:solidFill>
              </a:rPr>
              <a:t>master.json: our Roslyn code graph (excerpt)</a:t>
            </a:r>
            <a:endParaRPr lang="en-US" sz="1200" dirty="0"/>
          </a:p>
        </p:txBody>
      </p:sp>
      <p:sp>
        <p:nvSpPr>
          <p:cNvPr id="14" name="code excerpt"/>
          <p:cNvSpPr txBox="1"/>
          <p:nvPr/>
        </p:nvSpPr>
        <p:spPr>
          <a:xfrm>
            <a:off x="6949440" y="1051560"/>
            <a:ext cx="4572000" cy="3566160"/>
          </a:xfrm>
          <a:prstGeom prst="rect">
            <a:avLst/>
          </a:prstGeom>
          <a:noFill/>
          <a:ln/>
        </p:spPr>
        <p:txBody>
          <a:bodyPr wrap="square" lIns="0" tIns="0" rIns="0" bIns="0" rtlCol="0" anchor="t"/>
          <a:lstStyle/>
          <a:p>
            <a:pPr indent="0" marL="0">
              <a:buNone/>
            </a:pPr>
            <a:r>
              <a:rPr lang="en-US" sz="1200" dirty="0">
                <a:solidFill>
                  <a:srgbClr val="10272B"/>
                </a:solidFill>
                <a:latin typeface="Courier New" pitchFamily="34" charset="0"/>
                <a:ea typeface="Courier New" pitchFamily="34" charset="-122"/>
                <a:cs typeface="Courier New" pitchFamily="34" charset="-120"/>
              </a:rPr>
              <a:t>"Metadata": { "TargetFramework": "net8.0",</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"Statistics": { "NodeCount": 2904,</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"EdgeCount": 4196 } },</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"Nodes": [ {</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"Id": "class:global::BCES.Controllers</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.Admin.EmpSalaryController",</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"Type": "class",  "Project": "CES",</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"Location": {</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"Path": "Controllers\Admin\</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EmpSalaryController.cs",</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"StartLine": 31, "EndLine": 161 } } ],</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"Edges": [ {</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"From": "route:/EmpSalary/CreateEmpSalary",</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"Type": "routes_to",</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"To": "method:...EmpSalaryController</a:t>
            </a:r>
            <a:endParaRPr lang="en-US" sz="1200" dirty="0"/>
          </a:p>
          <a:p>
            <a:pPr indent="0" marL="0">
              <a:buNone/>
            </a:pPr>
            <a:r>
              <a:rPr lang="en-US" sz="1200" dirty="0">
                <a:solidFill>
                  <a:srgbClr val="10272B"/>
                </a:solidFill>
                <a:latin typeface="Courier New" pitchFamily="34" charset="0"/>
                <a:ea typeface="Courier New" pitchFamily="34" charset="-122"/>
                <a:cs typeface="Courier New" pitchFamily="34" charset="-120"/>
              </a:rPr>
              <a:t>         .CreateEmpSalary(...)" } ]</a:t>
            </a:r>
            <a:endParaRPr lang="en-US" sz="1200" dirty="0"/>
          </a:p>
        </p:txBody>
      </p:sp>
      <p:sp>
        <p:nvSpPr>
          <p:cNvPr id="15" name="graph takeaway"/>
          <p:cNvSpPr txBox="1"/>
          <p:nvPr/>
        </p:nvSpPr>
        <p:spPr>
          <a:xfrm>
            <a:off x="6720840" y="4389120"/>
            <a:ext cx="4937760" cy="1097280"/>
          </a:xfrm>
          <a:prstGeom prst="rect">
            <a:avLst/>
          </a:prstGeom>
          <a:noFill/>
          <a:ln/>
        </p:spPr>
        <p:txBody>
          <a:bodyPr wrap="square" lIns="0" tIns="0" rIns="0" bIns="0" rtlCol="0" anchor="t"/>
          <a:lstStyle/>
          <a:p>
            <a:pPr indent="0" marL="0">
              <a:buNone/>
            </a:pPr>
            <a:r>
              <a:rPr lang="en-US" sz="1400" b="1" dirty="0">
                <a:solidFill>
                  <a:srgbClr val="0E2F33"/>
                </a:solidFill>
              </a:rPr>
              <a:t>2,904 nodes, 4,196 edges. </a:t>
            </a:r>
            <a:pPr indent="0" marL="0">
              <a:buNone/>
            </a:pPr>
            <a:r>
              <a:rPr lang="en-US" sz="1400" dirty="0">
                <a:solidFill>
                  <a:srgbClr val="52666B"/>
                </a:solidFill>
              </a:rPr>
              <a:t>The graph holds structure only. The code itself is read from source and sent with the question. That is what needs governing.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666B"/>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t"/>
          <a:lstStyle/>
          <a:p>
            <a:pPr algn="l" indent="0" marL="0">
              <a:buNone/>
            </a:pPr>
            <a:r>
              <a:rPr lang="en-US" sz="3200" b="1" dirty="0">
                <a:solidFill>
                  <a:srgbClr val="0E2F33"/>
                </a:solidFill>
              </a:rPr>
              <a:t>Others publish principles; few can show enforcement</a:t>
            </a:r>
            <a:endParaRPr lang="en-US" sz="3200" dirty="0"/>
          </a:p>
        </p:txBody>
      </p:sp>
      <p:graphicFrame>
        <p:nvGraphicFramePr>
          <p:cNvPr id="3" name="findings table"/>
          <p:cNvGraphicFramePr>
            <a:graphicFrameLocks noGrp="1"/>
          </p:cNvGraphicFramePr>
          <p:nvPr>
            <p:extLst>
              <p:ext uri="{D42A27DB-BD31-4B8C-83A1-F6EECF244321}">
                <p14:modId xmlns:p14="http://schemas.microsoft.com/office/powerpoint/2010/main" val="1579011935"/>
              </p:ext>
            </p:extLst>
          </p:nvPr>
        </p:nvGraphicFramePr>
        <p:xfrm>
          <a:off x="548640" y="1325880"/>
          <a:ext cx="6858000" cy="914400"/>
        </p:xfrm>
        <a:graphic>
          <a:graphicData uri="http://schemas.openxmlformats.org/drawingml/2006/table">
            <a:tbl>
              <a:tblPr/>
              <a:tblGrid>
                <a:gridCol w="1828800"/>
                <a:gridCol w="5029200"/>
              </a:tblGrid>
              <a:tr h="329184">
                <a:tc>
                  <a:txBody>
                    <a:bodyPr/>
                    <a:lstStyle/>
                    <a:p>
                      <a:pPr indent="0" marL="0">
                        <a:buNone/>
                      </a:pPr>
                      <a:r>
                        <a:rPr lang="en-US" sz="1400" b="1" dirty="0">
                          <a:solidFill>
                            <a:srgbClr val="FFFFFF"/>
                          </a:solidFill>
                        </a:rPr>
                        <a:t>Who</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solidFill>
                      <a:srgbClr val="0E2F33"/>
                    </a:solidFill>
                  </a:tcPr>
                </a:tc>
                <a:tc>
                  <a:txBody>
                    <a:bodyPr/>
                    <a:lstStyle/>
                    <a:p>
                      <a:pPr indent="0" marL="0">
                        <a:buNone/>
                      </a:pPr>
                      <a:r>
                        <a:rPr lang="en-US" sz="1400" b="1" dirty="0">
                          <a:solidFill>
                            <a:srgbClr val="FFFFFF"/>
                          </a:solidFill>
                        </a:rPr>
                        <a:t>What was found</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solidFill>
                      <a:srgbClr val="0E2F33"/>
                    </a:solidFill>
                  </a:tcPr>
                </a:tc>
              </a:tr>
              <a:tr h="566928">
                <a:tc>
                  <a:txBody>
                    <a:bodyPr/>
                    <a:lstStyle/>
                    <a:p>
                      <a:pPr indent="0" marL="0">
                        <a:buNone/>
                      </a:pPr>
                      <a:r>
                        <a:rPr lang="en-US" sz="1400" b="1" dirty="0">
                          <a:solidFill>
                            <a:srgbClr val="0E2F33"/>
                          </a:solidFill>
                        </a:rPr>
                        <a:t>Morgan Stanley</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c>
                  <a:txBody>
                    <a:bodyPr/>
                    <a:lstStyle/>
                    <a:p>
                      <a:pPr indent="0" marL="0">
                        <a:buNone/>
                      </a:pPr>
                      <a:r>
                        <a:rPr lang="en-US" sz="1400" dirty="0">
                          <a:solidFill>
                            <a:srgbClr val="10272B"/>
                          </a:solidFill>
                        </a:rPr>
                        <a:t>98% of adviser teams adopted its internal assistant; document access rose from 20% to 80%. Self-reported.</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r>
              <a:tr h="566928">
                <a:tc>
                  <a:txBody>
                    <a:bodyPr/>
                    <a:lstStyle/>
                    <a:p>
                      <a:pPr indent="0" marL="0">
                        <a:buNone/>
                      </a:pPr>
                      <a:r>
                        <a:rPr lang="en-US" sz="1400" b="1" dirty="0">
                          <a:solidFill>
                            <a:srgbClr val="0E2F33"/>
                          </a:solidFill>
                        </a:rPr>
                        <a:t>Ontario public sector</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c>
                  <a:txBody>
                    <a:bodyPr/>
                    <a:lstStyle/>
                    <a:p>
                      <a:pPr indent="0" marL="0">
                        <a:buNone/>
                      </a:pPr>
                      <a:r>
                        <a:rPr lang="en-US" sz="1400" dirty="0">
                          <a:solidFill>
                            <a:srgbClr val="10272B"/>
                          </a:solidFill>
                        </a:rPr>
                        <a:t>Copilot Chat was the only approved tool, yet about 6% of GenAI use. No control stopped sensitive uploads.</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r>
              <a:tr h="566928">
                <a:tc>
                  <a:txBody>
                    <a:bodyPr/>
                    <a:lstStyle/>
                    <a:p>
                      <a:pPr indent="0" marL="0">
                        <a:buNone/>
                      </a:pPr>
                      <a:r>
                        <a:rPr lang="en-US" sz="1400" b="1" dirty="0">
                          <a:solidFill>
                            <a:srgbClr val="0E2F33"/>
                          </a:solidFill>
                        </a:rPr>
                        <a:t>Canadian banks</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c>
                  <a:txBody>
                    <a:bodyPr/>
                    <a:lstStyle/>
                    <a:p>
                      <a:pPr indent="0" marL="0">
                        <a:buNone/>
                      </a:pPr>
                      <a:r>
                        <a:rPr lang="en-US" sz="1400" dirty="0">
                          <a:solidFill>
                            <a:srgbClr val="10272B"/>
                          </a:solidFill>
                        </a:rPr>
                        <a:t>Published principles, training and review; little on enforcement. OSFI E-23 applies from 1 May 2027.</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r>
              <a:tr h="411480">
                <a:tc>
                  <a:txBody>
                    <a:bodyPr/>
                    <a:lstStyle/>
                    <a:p>
                      <a:pPr indent="0" marL="0">
                        <a:buNone/>
                      </a:pPr>
                      <a:r>
                        <a:rPr lang="en-US" sz="1400" b="1" dirty="0">
                          <a:solidFill>
                            <a:srgbClr val="0E2F33"/>
                          </a:solidFill>
                        </a:rPr>
                        <a:t>TTC</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c>
                  <a:txBody>
                    <a:bodyPr/>
                    <a:lstStyle/>
                    <a:p>
                      <a:pPr indent="0" marL="0">
                        <a:buNone/>
                      </a:pPr>
                      <a:r>
                        <a:rPr lang="en-US" sz="1400" dirty="0">
                          <a:solidFill>
                            <a:srgbClr val="10272B"/>
                          </a:solidFill>
                        </a:rPr>
                        <a:t>Microsoft Copilot is the only approved AI tool (City of Toronto generative AI guidance).</a:t>
                      </a:r>
                      <a:endParaRPr lang="en-US" sz="1400" dirty="0"/>
                    </a:p>
                  </a:txBody>
                  <a:tcPr marL="91440" marR="91440" marT="64008" marB="64008"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r>
            </a:tbl>
          </a:graphicData>
        </a:graphic>
      </p:graphicFrame>
      <p:sp>
        <p:nvSpPr>
          <p:cNvPr id="4" name="takeaway"/>
          <p:cNvSpPr txBox="1"/>
          <p:nvPr/>
        </p:nvSpPr>
        <p:spPr>
          <a:xfrm>
            <a:off x="548640" y="3931920"/>
            <a:ext cx="6858000" cy="320040"/>
          </a:xfrm>
          <a:prstGeom prst="rect">
            <a:avLst/>
          </a:prstGeom>
          <a:noFill/>
          <a:ln/>
        </p:spPr>
        <p:txBody>
          <a:bodyPr wrap="square" lIns="0" tIns="0" rIns="0" bIns="0" rtlCol="0" anchor="t"/>
          <a:lstStyle/>
          <a:p>
            <a:pPr indent="0" marL="0">
              <a:buNone/>
            </a:pPr>
            <a:r>
              <a:rPr lang="en-US" sz="1800" b="1" dirty="0">
                <a:solidFill>
                  <a:srgbClr val="1F7A74"/>
                </a:solidFill>
              </a:rPr>
              <a:t>A ban hides the risk. A gateway contains it.</a:t>
            </a:r>
            <a:endParaRPr lang="en-US" sz="1800" dirty="0"/>
          </a:p>
        </p:txBody>
      </p:sp>
      <p:sp>
        <p:nvSpPr>
          <p:cNvPr id="5" name="ban employee box"/>
          <p:cNvSpPr/>
          <p:nvPr/>
        </p:nvSpPr>
        <p:spPr>
          <a:xfrm>
            <a:off x="548640" y="4370832"/>
            <a:ext cx="914400" cy="411480"/>
          </a:xfrm>
          <a:prstGeom prst="roundRect">
            <a:avLst>
              <a:gd name="adj" fmla="val 11111"/>
            </a:avLst>
          </a:prstGeom>
          <a:solidFill>
            <a:srgbClr val="EEF4F4"/>
          </a:solidFill>
          <a:ln w="12700">
            <a:solidFill>
              <a:srgbClr val="C9D8D8"/>
            </a:solidFill>
            <a:prstDash val="solid"/>
          </a:ln>
        </p:spPr>
      </p:sp>
      <p:sp>
        <p:nvSpPr>
          <p:cNvPr id="6" name="ban employee text"/>
          <p:cNvSpPr txBox="1"/>
          <p:nvPr/>
        </p:nvSpPr>
        <p:spPr>
          <a:xfrm>
            <a:off x="594360" y="4370832"/>
            <a:ext cx="822960" cy="411480"/>
          </a:xfrm>
          <a:prstGeom prst="rect">
            <a:avLst/>
          </a:prstGeom>
          <a:noFill/>
          <a:ln/>
        </p:spPr>
        <p:txBody>
          <a:bodyPr wrap="square" lIns="0" tIns="0" rIns="0" bIns="0" rtlCol="0" anchor="ctr"/>
          <a:lstStyle/>
          <a:p>
            <a:pPr algn="ctr" indent="0" marL="0">
              <a:buNone/>
            </a:pPr>
            <a:r>
              <a:rPr lang="en-US" sz="1200" b="1" dirty="0">
                <a:solidFill>
                  <a:srgbClr val="0E2F33"/>
                </a:solidFill>
              </a:rPr>
              <a:t>Employee</a:t>
            </a:r>
            <a:endParaRPr lang="en-US" sz="1200" dirty="0"/>
          </a:p>
        </p:txBody>
      </p:sp>
      <p:sp>
        <p:nvSpPr>
          <p:cNvPr id="7" name="ban arrow 1"/>
          <p:cNvSpPr/>
          <p:nvPr/>
        </p:nvSpPr>
        <p:spPr>
          <a:xfrm>
            <a:off x="1463040" y="4576572"/>
            <a:ext cx="320040" cy="0"/>
          </a:xfrm>
          <a:prstGeom prst="line">
            <a:avLst/>
          </a:prstGeom>
          <a:noFill/>
          <a:ln w="25400">
            <a:solidFill>
              <a:srgbClr val="1F7A74"/>
            </a:solidFill>
            <a:prstDash val="solid"/>
            <a:tailEnd type="triangle"/>
          </a:ln>
        </p:spPr>
      </p:sp>
      <p:sp>
        <p:nvSpPr>
          <p:cNvPr id="8" name="ban control box"/>
          <p:cNvSpPr/>
          <p:nvPr/>
        </p:nvSpPr>
        <p:spPr>
          <a:xfrm>
            <a:off x="1783080" y="4370832"/>
            <a:ext cx="2148840" cy="411480"/>
          </a:xfrm>
          <a:prstGeom prst="roundRect">
            <a:avLst>
              <a:gd name="adj" fmla="val 11111"/>
            </a:avLst>
          </a:prstGeom>
          <a:solidFill>
            <a:srgbClr val="FDECEA"/>
          </a:solidFill>
          <a:ln w="12700">
            <a:solidFill>
              <a:srgbClr val="B02A22"/>
            </a:solidFill>
            <a:prstDash val="solid"/>
          </a:ln>
        </p:spPr>
      </p:sp>
      <p:sp>
        <p:nvSpPr>
          <p:cNvPr id="9" name="ban control text"/>
          <p:cNvSpPr txBox="1"/>
          <p:nvPr/>
        </p:nvSpPr>
        <p:spPr>
          <a:xfrm>
            <a:off x="1828800" y="4370832"/>
            <a:ext cx="2057400" cy="411480"/>
          </a:xfrm>
          <a:prstGeom prst="rect">
            <a:avLst/>
          </a:prstGeom>
          <a:noFill/>
          <a:ln/>
        </p:spPr>
        <p:txBody>
          <a:bodyPr wrap="square" lIns="0" tIns="0" rIns="0" bIns="0" rtlCol="0" anchor="ctr"/>
          <a:lstStyle/>
          <a:p>
            <a:pPr algn="ctr" indent="0" marL="0">
              <a:buNone/>
            </a:pPr>
            <a:r>
              <a:rPr lang="en-US" sz="1200" b="1" dirty="0">
                <a:solidFill>
                  <a:srgbClr val="7A1B15"/>
                </a:solidFill>
              </a:rPr>
              <a:t>Corporate PC blocks it</a:t>
            </a:r>
            <a:endParaRPr lang="en-US" sz="1200" dirty="0"/>
          </a:p>
        </p:txBody>
      </p:sp>
      <p:sp>
        <p:nvSpPr>
          <p:cNvPr id="10" name="ban bypass arrow"/>
          <p:cNvSpPr/>
          <p:nvPr/>
        </p:nvSpPr>
        <p:spPr>
          <a:xfrm>
            <a:off x="3931920" y="4576572"/>
            <a:ext cx="365760" cy="0"/>
          </a:xfrm>
          <a:prstGeom prst="line">
            <a:avLst/>
          </a:prstGeom>
          <a:noFill/>
          <a:ln w="25400">
            <a:solidFill>
              <a:srgbClr val="8794A0"/>
            </a:solidFill>
            <a:prstDash val="dash"/>
            <a:tailEnd type="triangle"/>
          </a:ln>
        </p:spPr>
      </p:sp>
      <p:sp>
        <p:nvSpPr>
          <p:cNvPr id="11" name="ban destination box"/>
          <p:cNvSpPr/>
          <p:nvPr/>
        </p:nvSpPr>
        <p:spPr>
          <a:xfrm>
            <a:off x="4297680" y="4370832"/>
            <a:ext cx="1920240" cy="411480"/>
          </a:xfrm>
          <a:prstGeom prst="roundRect">
            <a:avLst>
              <a:gd name="adj" fmla="val 11111"/>
            </a:avLst>
          </a:prstGeom>
          <a:solidFill>
            <a:srgbClr val="FFFFFF"/>
          </a:solidFill>
          <a:ln w="12700">
            <a:solidFill>
              <a:srgbClr val="8794A0"/>
            </a:solidFill>
            <a:prstDash val="solid"/>
          </a:ln>
        </p:spPr>
      </p:sp>
      <p:sp>
        <p:nvSpPr>
          <p:cNvPr id="12" name="ban destination text"/>
          <p:cNvSpPr txBox="1"/>
          <p:nvPr/>
        </p:nvSpPr>
        <p:spPr>
          <a:xfrm>
            <a:off x="4343400" y="4370832"/>
            <a:ext cx="1828800" cy="411480"/>
          </a:xfrm>
          <a:prstGeom prst="rect">
            <a:avLst/>
          </a:prstGeom>
          <a:noFill/>
          <a:ln/>
        </p:spPr>
        <p:txBody>
          <a:bodyPr wrap="square" lIns="0" tIns="0" rIns="0" bIns="0" rtlCol="0" anchor="ctr"/>
          <a:lstStyle/>
          <a:p>
            <a:pPr algn="ctr" indent="0" marL="0">
              <a:buNone/>
            </a:pPr>
            <a:r>
              <a:rPr lang="en-US" sz="1200" b="1" dirty="0">
                <a:solidFill>
                  <a:srgbClr val="52666B"/>
                </a:solidFill>
              </a:rPr>
              <a:t>Personal browser, chatbot</a:t>
            </a:r>
            <a:endParaRPr lang="en-US" sz="1200" dirty="0"/>
          </a:p>
        </p:txBody>
      </p:sp>
      <p:sp>
        <p:nvSpPr>
          <p:cNvPr id="13" name="ban arrow 3"/>
          <p:cNvSpPr/>
          <p:nvPr/>
        </p:nvSpPr>
        <p:spPr>
          <a:xfrm>
            <a:off x="6217920" y="4576572"/>
            <a:ext cx="274320" cy="0"/>
          </a:xfrm>
          <a:prstGeom prst="line">
            <a:avLst/>
          </a:prstGeom>
          <a:noFill/>
          <a:ln w="25400">
            <a:solidFill>
              <a:srgbClr val="8794A0"/>
            </a:solidFill>
            <a:prstDash val="solid"/>
            <a:tailEnd type="triangle"/>
          </a:ln>
        </p:spPr>
      </p:sp>
      <p:sp>
        <p:nvSpPr>
          <p:cNvPr id="14" name="ban outcome box"/>
          <p:cNvSpPr/>
          <p:nvPr/>
        </p:nvSpPr>
        <p:spPr>
          <a:xfrm>
            <a:off x="6492240" y="4370832"/>
            <a:ext cx="914400" cy="411480"/>
          </a:xfrm>
          <a:prstGeom prst="roundRect">
            <a:avLst>
              <a:gd name="adj" fmla="val 11111"/>
            </a:avLst>
          </a:prstGeom>
          <a:solidFill>
            <a:srgbClr val="8794A0"/>
          </a:solidFill>
          <a:ln w="12700">
            <a:solidFill>
              <a:srgbClr val="8794A0"/>
            </a:solidFill>
            <a:prstDash val="solid"/>
          </a:ln>
        </p:spPr>
      </p:sp>
      <p:sp>
        <p:nvSpPr>
          <p:cNvPr id="15" name="ban outcome text"/>
          <p:cNvSpPr txBox="1"/>
          <p:nvPr/>
        </p:nvSpPr>
        <p:spPr>
          <a:xfrm>
            <a:off x="6537960" y="4370832"/>
            <a:ext cx="822960" cy="411480"/>
          </a:xfrm>
          <a:prstGeom prst="rect">
            <a:avLst/>
          </a:prstGeom>
          <a:noFill/>
          <a:ln/>
        </p:spPr>
        <p:txBody>
          <a:bodyPr wrap="square" lIns="0" tIns="0" rIns="0" bIns="0" rtlCol="0" anchor="ctr"/>
          <a:lstStyle/>
          <a:p>
            <a:pPr algn="ctr" indent="0" marL="0">
              <a:buNone/>
            </a:pPr>
            <a:r>
              <a:rPr lang="en-US" sz="1200" b="1" dirty="0">
                <a:solidFill>
                  <a:srgbClr val="FFFFFF"/>
                </a:solidFill>
              </a:rPr>
              <a:t>Invisible</a:t>
            </a:r>
            <a:endParaRPr lang="en-US" sz="1200" dirty="0"/>
          </a:p>
        </p:txBody>
      </p:sp>
      <p:sp>
        <p:nvSpPr>
          <p:cNvPr id="16" name="govern employee box"/>
          <p:cNvSpPr/>
          <p:nvPr/>
        </p:nvSpPr>
        <p:spPr>
          <a:xfrm>
            <a:off x="548640" y="4873752"/>
            <a:ext cx="914400" cy="411480"/>
          </a:xfrm>
          <a:prstGeom prst="roundRect">
            <a:avLst>
              <a:gd name="adj" fmla="val 11111"/>
            </a:avLst>
          </a:prstGeom>
          <a:solidFill>
            <a:srgbClr val="EEF4F4"/>
          </a:solidFill>
          <a:ln w="12700">
            <a:solidFill>
              <a:srgbClr val="C9D8D8"/>
            </a:solidFill>
            <a:prstDash val="solid"/>
          </a:ln>
        </p:spPr>
      </p:sp>
      <p:sp>
        <p:nvSpPr>
          <p:cNvPr id="17" name="govern employee text"/>
          <p:cNvSpPr txBox="1"/>
          <p:nvPr/>
        </p:nvSpPr>
        <p:spPr>
          <a:xfrm>
            <a:off x="594360" y="4873752"/>
            <a:ext cx="822960" cy="411480"/>
          </a:xfrm>
          <a:prstGeom prst="rect">
            <a:avLst/>
          </a:prstGeom>
          <a:noFill/>
          <a:ln/>
        </p:spPr>
        <p:txBody>
          <a:bodyPr wrap="square" lIns="0" tIns="0" rIns="0" bIns="0" rtlCol="0" anchor="ctr"/>
          <a:lstStyle/>
          <a:p>
            <a:pPr algn="ctr" indent="0" marL="0">
              <a:buNone/>
            </a:pPr>
            <a:r>
              <a:rPr lang="en-US" sz="1200" b="1" dirty="0">
                <a:solidFill>
                  <a:srgbClr val="0E2F33"/>
                </a:solidFill>
              </a:rPr>
              <a:t>Employee</a:t>
            </a:r>
            <a:endParaRPr lang="en-US" sz="1200" dirty="0"/>
          </a:p>
        </p:txBody>
      </p:sp>
      <p:sp>
        <p:nvSpPr>
          <p:cNvPr id="18" name="govern arrow 1"/>
          <p:cNvSpPr/>
          <p:nvPr/>
        </p:nvSpPr>
        <p:spPr>
          <a:xfrm>
            <a:off x="1463040" y="5079492"/>
            <a:ext cx="320040" cy="0"/>
          </a:xfrm>
          <a:prstGeom prst="line">
            <a:avLst/>
          </a:prstGeom>
          <a:noFill/>
          <a:ln w="25400">
            <a:solidFill>
              <a:srgbClr val="1F7A74"/>
            </a:solidFill>
            <a:prstDash val="solid"/>
            <a:tailEnd type="triangle"/>
          </a:ln>
        </p:spPr>
      </p:sp>
      <p:sp>
        <p:nvSpPr>
          <p:cNvPr id="19" name="govern control box"/>
          <p:cNvSpPr/>
          <p:nvPr/>
        </p:nvSpPr>
        <p:spPr>
          <a:xfrm>
            <a:off x="1783080" y="4873752"/>
            <a:ext cx="2148840" cy="411480"/>
          </a:xfrm>
          <a:prstGeom prst="roundRect">
            <a:avLst>
              <a:gd name="adj" fmla="val 11111"/>
            </a:avLst>
          </a:prstGeom>
          <a:solidFill>
            <a:srgbClr val="E1F1EF"/>
          </a:solidFill>
          <a:ln w="12700">
            <a:solidFill>
              <a:srgbClr val="1F7A74"/>
            </a:solidFill>
            <a:prstDash val="solid"/>
          </a:ln>
        </p:spPr>
      </p:sp>
      <p:sp>
        <p:nvSpPr>
          <p:cNvPr id="20" name="govern control text"/>
          <p:cNvSpPr txBox="1"/>
          <p:nvPr/>
        </p:nvSpPr>
        <p:spPr>
          <a:xfrm>
            <a:off x="1828800" y="4873752"/>
            <a:ext cx="2057400" cy="411480"/>
          </a:xfrm>
          <a:prstGeom prst="rect">
            <a:avLst/>
          </a:prstGeom>
          <a:noFill/>
          <a:ln/>
        </p:spPr>
        <p:txBody>
          <a:bodyPr wrap="square" lIns="0" tIns="0" rIns="0" bIns="0" rtlCol="0" anchor="ctr"/>
          <a:lstStyle/>
          <a:p>
            <a:pPr algn="ctr" indent="0" marL="0">
              <a:buNone/>
            </a:pPr>
            <a:r>
              <a:rPr lang="en-US" sz="1200" b="1" dirty="0">
                <a:solidFill>
                  <a:srgbClr val="0E2F33"/>
                </a:solidFill>
              </a:rPr>
              <a:t>Gateway inspects, masks, logs</a:t>
            </a:r>
            <a:endParaRPr lang="en-US" sz="1200" dirty="0"/>
          </a:p>
        </p:txBody>
      </p:sp>
      <p:sp>
        <p:nvSpPr>
          <p:cNvPr id="21" name="govern arrow 2"/>
          <p:cNvSpPr/>
          <p:nvPr/>
        </p:nvSpPr>
        <p:spPr>
          <a:xfrm>
            <a:off x="3931920" y="5079492"/>
            <a:ext cx="365760" cy="0"/>
          </a:xfrm>
          <a:prstGeom prst="line">
            <a:avLst/>
          </a:prstGeom>
          <a:noFill/>
          <a:ln w="25400">
            <a:solidFill>
              <a:srgbClr val="1F7A74"/>
            </a:solidFill>
            <a:prstDash val="solid"/>
            <a:tailEnd type="triangle"/>
          </a:ln>
        </p:spPr>
      </p:sp>
      <p:sp>
        <p:nvSpPr>
          <p:cNvPr id="22" name="govern destination box"/>
          <p:cNvSpPr/>
          <p:nvPr/>
        </p:nvSpPr>
        <p:spPr>
          <a:xfrm>
            <a:off x="4297680" y="4873752"/>
            <a:ext cx="1920240" cy="411480"/>
          </a:xfrm>
          <a:prstGeom prst="roundRect">
            <a:avLst>
              <a:gd name="adj" fmla="val 11111"/>
            </a:avLst>
          </a:prstGeom>
          <a:solidFill>
            <a:srgbClr val="FFFFFF"/>
          </a:solidFill>
          <a:ln w="12700">
            <a:solidFill>
              <a:srgbClr val="1F7A74"/>
            </a:solidFill>
            <a:prstDash val="solid"/>
          </a:ln>
        </p:spPr>
      </p:sp>
      <p:sp>
        <p:nvSpPr>
          <p:cNvPr id="23" name="govern destination text"/>
          <p:cNvSpPr txBox="1"/>
          <p:nvPr/>
        </p:nvSpPr>
        <p:spPr>
          <a:xfrm>
            <a:off x="4343400" y="4873752"/>
            <a:ext cx="1828800" cy="411480"/>
          </a:xfrm>
          <a:prstGeom prst="rect">
            <a:avLst/>
          </a:prstGeom>
          <a:noFill/>
          <a:ln/>
        </p:spPr>
        <p:txBody>
          <a:bodyPr wrap="square" lIns="0" tIns="0" rIns="0" bIns="0" rtlCol="0" anchor="ctr"/>
          <a:lstStyle/>
          <a:p>
            <a:pPr algn="ctr" indent="0" marL="0">
              <a:buNone/>
            </a:pPr>
            <a:r>
              <a:rPr lang="en-US" sz="1200" b="1" dirty="0">
                <a:solidFill>
                  <a:srgbClr val="0E2F33"/>
                </a:solidFill>
              </a:rPr>
              <a:t>Approved model</a:t>
            </a:r>
            <a:endParaRPr lang="en-US" sz="1200" dirty="0"/>
          </a:p>
        </p:txBody>
      </p:sp>
      <p:sp>
        <p:nvSpPr>
          <p:cNvPr id="24" name="govern arrow 3"/>
          <p:cNvSpPr/>
          <p:nvPr/>
        </p:nvSpPr>
        <p:spPr>
          <a:xfrm>
            <a:off x="6217920" y="5079492"/>
            <a:ext cx="274320" cy="0"/>
          </a:xfrm>
          <a:prstGeom prst="line">
            <a:avLst/>
          </a:prstGeom>
          <a:noFill/>
          <a:ln w="25400">
            <a:solidFill>
              <a:srgbClr val="1F7A74"/>
            </a:solidFill>
            <a:prstDash val="solid"/>
            <a:tailEnd type="triangle"/>
          </a:ln>
        </p:spPr>
      </p:sp>
      <p:sp>
        <p:nvSpPr>
          <p:cNvPr id="25" name="govern outcome box"/>
          <p:cNvSpPr/>
          <p:nvPr/>
        </p:nvSpPr>
        <p:spPr>
          <a:xfrm>
            <a:off x="6492240" y="4873752"/>
            <a:ext cx="914400" cy="411480"/>
          </a:xfrm>
          <a:prstGeom prst="roundRect">
            <a:avLst>
              <a:gd name="adj" fmla="val 11111"/>
            </a:avLst>
          </a:prstGeom>
          <a:solidFill>
            <a:srgbClr val="1F7A74"/>
          </a:solidFill>
          <a:ln w="12700">
            <a:solidFill>
              <a:srgbClr val="1F7A74"/>
            </a:solidFill>
            <a:prstDash val="solid"/>
          </a:ln>
        </p:spPr>
      </p:sp>
      <p:sp>
        <p:nvSpPr>
          <p:cNvPr id="26" name="govern outcome text"/>
          <p:cNvSpPr txBox="1"/>
          <p:nvPr/>
        </p:nvSpPr>
        <p:spPr>
          <a:xfrm>
            <a:off x="6537960" y="4873752"/>
            <a:ext cx="822960" cy="411480"/>
          </a:xfrm>
          <a:prstGeom prst="rect">
            <a:avLst/>
          </a:prstGeom>
          <a:noFill/>
          <a:ln/>
        </p:spPr>
        <p:txBody>
          <a:bodyPr wrap="square" lIns="0" tIns="0" rIns="0" bIns="0" rtlCol="0" anchor="ctr"/>
          <a:lstStyle/>
          <a:p>
            <a:pPr algn="ctr" indent="0" marL="0">
              <a:buNone/>
            </a:pPr>
            <a:r>
              <a:rPr lang="en-US" sz="1200" b="1" dirty="0">
                <a:solidFill>
                  <a:srgbClr val="FFFFFF"/>
                </a:solidFill>
              </a:rPr>
              <a:t>Governed</a:t>
            </a:r>
            <a:endParaRPr lang="en-US" sz="1200" dirty="0"/>
          </a:p>
        </p:txBody>
      </p:sp>
      <p:sp>
        <p:nvSpPr>
          <p:cNvPr id="27" name="limits panel"/>
          <p:cNvSpPr/>
          <p:nvPr/>
        </p:nvSpPr>
        <p:spPr>
          <a:xfrm>
            <a:off x="7680960" y="1325880"/>
            <a:ext cx="3977640" cy="3959352"/>
          </a:xfrm>
          <a:prstGeom prst="roundRect">
            <a:avLst>
              <a:gd name="adj" fmla="val 1386"/>
            </a:avLst>
          </a:prstGeom>
          <a:solidFill>
            <a:srgbClr val="EEF4F4"/>
          </a:solidFill>
          <a:ln w="12700">
            <a:solidFill>
              <a:srgbClr val="EEF4F4"/>
            </a:solidFill>
            <a:prstDash val="solid"/>
          </a:ln>
        </p:spPr>
      </p:sp>
      <p:sp>
        <p:nvSpPr>
          <p:cNvPr id="28" name="limits heading"/>
          <p:cNvSpPr txBox="1"/>
          <p:nvPr/>
        </p:nvSpPr>
        <p:spPr>
          <a:xfrm>
            <a:off x="7909560" y="1463040"/>
            <a:ext cx="3566160" cy="320040"/>
          </a:xfrm>
          <a:prstGeom prst="rect">
            <a:avLst/>
          </a:prstGeom>
          <a:noFill/>
          <a:ln/>
        </p:spPr>
        <p:txBody>
          <a:bodyPr wrap="square" lIns="0" tIns="0" rIns="0" bIns="0" rtlCol="0" anchor="t"/>
          <a:lstStyle/>
          <a:p>
            <a:pPr indent="0" marL="0">
              <a:buNone/>
            </a:pPr>
            <a:r>
              <a:rPr lang="en-US" sz="1800" b="1" dirty="0">
                <a:solidFill>
                  <a:srgbClr val="0E2F33"/>
                </a:solidFill>
              </a:rPr>
              <a:t>Limits we state up front</a:t>
            </a:r>
            <a:endParaRPr lang="en-US" sz="1800" dirty="0"/>
          </a:p>
        </p:txBody>
      </p:sp>
      <p:sp>
        <p:nvSpPr>
          <p:cNvPr id="29" name="limits list"/>
          <p:cNvSpPr txBox="1"/>
          <p:nvPr/>
        </p:nvSpPr>
        <p:spPr>
          <a:xfrm>
            <a:off x="7909560" y="1874520"/>
            <a:ext cx="3566160" cy="3246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0272B"/>
                </a:solidFill>
              </a:rPr>
              <a:t>Findings rest on public, partly self-reported sources. We treat them as hypotheses to test.</a:t>
            </a:r>
            <a:endParaRPr lang="en-US" sz="1400" dirty="0"/>
          </a:p>
          <a:p>
            <a:pPr marL="342900" indent="-342900">
              <a:spcAft>
                <a:spcPts val="600"/>
              </a:spcAft>
              <a:buSzPct val="100000"/>
              <a:buChar char="•"/>
            </a:pPr>
            <a:r>
              <a:rPr lang="en-US" sz="1400" dirty="0">
                <a:solidFill>
                  <a:srgbClr val="10272B"/>
                </a:solidFill>
              </a:rPr>
              <a:t>Masking will not catch everything. A name buried in a paragraph can get through. We report misses.</a:t>
            </a:r>
            <a:endParaRPr lang="en-US" sz="1400" dirty="0"/>
          </a:p>
          <a:p>
            <a:pPr marL="342900" indent="-342900">
              <a:spcAft>
                <a:spcPts val="600"/>
              </a:spcAft>
              <a:buSzPct val="100000"/>
              <a:buChar char="•"/>
            </a:pPr>
            <a:r>
              <a:rPr lang="en-US" sz="1400" dirty="0">
                <a:solidFill>
                  <a:srgbClr val="10272B"/>
                </a:solidFill>
              </a:rPr>
              <a:t>Evidence is not compliance. Privacy assessments, contracts and legal review stay separate.</a:t>
            </a:r>
            <a:endParaRPr lang="en-US" sz="1400" dirty="0"/>
          </a:p>
          <a:p>
            <a:pPr marL="342900" indent="-342900">
              <a:buSzPct val="100000"/>
              <a:buChar char="•"/>
            </a:pPr>
            <a:r>
              <a:rPr lang="en-US" sz="1400" dirty="0">
                <a:solidFill>
                  <a:srgbClr val="10272B"/>
                </a:solidFill>
              </a:rPr>
              <a:t>Self-hosted models may fall short on capability. We compare on the same tasks.</a:t>
            </a:r>
            <a:endParaRPr lang="en-US" sz="1400" dirty="0"/>
          </a:p>
        </p:txBody>
      </p:sp>
      <p:sp>
        <p:nvSpPr>
          <p:cNvPr id="30" name="regulation heading"/>
          <p:cNvSpPr txBox="1"/>
          <p:nvPr/>
        </p:nvSpPr>
        <p:spPr>
          <a:xfrm>
            <a:off x="548640" y="5394960"/>
            <a:ext cx="3657600" cy="256032"/>
          </a:xfrm>
          <a:prstGeom prst="rect">
            <a:avLst/>
          </a:prstGeom>
          <a:noFill/>
          <a:ln/>
        </p:spPr>
        <p:txBody>
          <a:bodyPr wrap="square" lIns="0" tIns="0" rIns="0" bIns="0" rtlCol="0" anchor="t"/>
          <a:lstStyle/>
          <a:p>
            <a:pPr indent="0" marL="0">
              <a:buNone/>
            </a:pPr>
            <a:r>
              <a:rPr lang="en-US" sz="1400" b="1" dirty="0">
                <a:solidFill>
                  <a:srgbClr val="0E2F33"/>
                </a:solidFill>
              </a:rPr>
              <a:t>Each sector answers to</a:t>
            </a:r>
            <a:endParaRPr lang="en-US" sz="1400" dirty="0"/>
          </a:p>
        </p:txBody>
      </p:sp>
      <p:sp>
        <p:nvSpPr>
          <p:cNvPr id="31" name="regulation card 0"/>
          <p:cNvSpPr/>
          <p:nvPr/>
        </p:nvSpPr>
        <p:spPr>
          <a:xfrm>
            <a:off x="548640" y="5669280"/>
            <a:ext cx="2670048" cy="658368"/>
          </a:xfrm>
          <a:prstGeom prst="roundRect">
            <a:avLst>
              <a:gd name="adj" fmla="val 6944"/>
            </a:avLst>
          </a:prstGeom>
          <a:solidFill>
            <a:srgbClr val="FFFFFF"/>
          </a:solidFill>
          <a:ln w="12700">
            <a:solidFill>
              <a:srgbClr val="C9D8D8"/>
            </a:solidFill>
            <a:prstDash val="solid"/>
          </a:ln>
        </p:spPr>
      </p:sp>
      <p:sp>
        <p:nvSpPr>
          <p:cNvPr id="32" name="regulation text 0"/>
          <p:cNvSpPr txBox="1"/>
          <p:nvPr/>
        </p:nvSpPr>
        <p:spPr>
          <a:xfrm>
            <a:off x="658368" y="5669280"/>
            <a:ext cx="2468880" cy="658368"/>
          </a:xfrm>
          <a:prstGeom prst="rect">
            <a:avLst/>
          </a:prstGeom>
          <a:noFill/>
          <a:ln/>
        </p:spPr>
        <p:txBody>
          <a:bodyPr wrap="square" lIns="0" tIns="0" rIns="0" bIns="0" rtlCol="0" anchor="ctr"/>
          <a:lstStyle/>
          <a:p>
            <a:pPr indent="0" marL="0">
              <a:buNone/>
            </a:pPr>
            <a:r>
              <a:rPr lang="en-US" sz="1200" b="1" dirty="0">
                <a:solidFill>
                  <a:srgbClr val="0E2F33"/>
                </a:solidFill>
              </a:rPr>
              <a:t>Canadian banks</a:t>
            </a:r>
            <a:endParaRPr lang="en-US" sz="1200" dirty="0"/>
          </a:p>
          <a:p>
            <a:pPr indent="0" marL="0">
              <a:buNone/>
            </a:pPr>
            <a:r>
              <a:rPr lang="en-US" sz="1200" dirty="0">
                <a:solidFill>
                  <a:srgbClr val="52666B"/>
                </a:solidFill>
              </a:rPr>
              <a:t>OSFI E-23, B-13, B-10</a:t>
            </a:r>
            <a:endParaRPr lang="en-US" sz="1200" dirty="0"/>
          </a:p>
        </p:txBody>
      </p:sp>
      <p:sp>
        <p:nvSpPr>
          <p:cNvPr id="33" name="regulation card 1"/>
          <p:cNvSpPr/>
          <p:nvPr/>
        </p:nvSpPr>
        <p:spPr>
          <a:xfrm>
            <a:off x="3346704" y="5669280"/>
            <a:ext cx="2670048" cy="658368"/>
          </a:xfrm>
          <a:prstGeom prst="roundRect">
            <a:avLst>
              <a:gd name="adj" fmla="val 6944"/>
            </a:avLst>
          </a:prstGeom>
          <a:solidFill>
            <a:srgbClr val="FFFFFF"/>
          </a:solidFill>
          <a:ln w="12700">
            <a:solidFill>
              <a:srgbClr val="C9D8D8"/>
            </a:solidFill>
            <a:prstDash val="solid"/>
          </a:ln>
        </p:spPr>
      </p:sp>
      <p:sp>
        <p:nvSpPr>
          <p:cNvPr id="34" name="regulation text 1"/>
          <p:cNvSpPr txBox="1"/>
          <p:nvPr/>
        </p:nvSpPr>
        <p:spPr>
          <a:xfrm>
            <a:off x="3456432" y="5669280"/>
            <a:ext cx="2468880" cy="658368"/>
          </a:xfrm>
          <a:prstGeom prst="rect">
            <a:avLst/>
          </a:prstGeom>
          <a:noFill/>
          <a:ln/>
        </p:spPr>
        <p:txBody>
          <a:bodyPr wrap="square" lIns="0" tIns="0" rIns="0" bIns="0" rtlCol="0" anchor="ctr"/>
          <a:lstStyle/>
          <a:p>
            <a:pPr indent="0" marL="0">
              <a:buNone/>
            </a:pPr>
            <a:r>
              <a:rPr lang="en-US" sz="1200" b="1" dirty="0">
                <a:solidFill>
                  <a:srgbClr val="0E2F33"/>
                </a:solidFill>
              </a:rPr>
              <a:t>Ontario public sector</a:t>
            </a:r>
            <a:endParaRPr lang="en-US" sz="1200" dirty="0"/>
          </a:p>
          <a:p>
            <a:pPr indent="0" marL="0">
              <a:buNone/>
            </a:pPr>
            <a:r>
              <a:rPr lang="en-US" sz="1200" dirty="0">
                <a:solidFill>
                  <a:srgbClr val="52666B"/>
                </a:solidFill>
              </a:rPr>
              <a:t>Bill 194, Responsible Use of AI Directive, FIPPA</a:t>
            </a:r>
            <a:endParaRPr lang="en-US" sz="1200" dirty="0"/>
          </a:p>
        </p:txBody>
      </p:sp>
      <p:sp>
        <p:nvSpPr>
          <p:cNvPr id="35" name="regulation card 2"/>
          <p:cNvSpPr/>
          <p:nvPr/>
        </p:nvSpPr>
        <p:spPr>
          <a:xfrm>
            <a:off x="6144768" y="5669280"/>
            <a:ext cx="2670048" cy="658368"/>
          </a:xfrm>
          <a:prstGeom prst="roundRect">
            <a:avLst>
              <a:gd name="adj" fmla="val 6944"/>
            </a:avLst>
          </a:prstGeom>
          <a:solidFill>
            <a:srgbClr val="FFFFFF"/>
          </a:solidFill>
          <a:ln w="12700">
            <a:solidFill>
              <a:srgbClr val="C9D8D8"/>
            </a:solidFill>
            <a:prstDash val="solid"/>
          </a:ln>
        </p:spPr>
      </p:sp>
      <p:sp>
        <p:nvSpPr>
          <p:cNvPr id="36" name="regulation text 2"/>
          <p:cNvSpPr txBox="1"/>
          <p:nvPr/>
        </p:nvSpPr>
        <p:spPr>
          <a:xfrm>
            <a:off x="6254496" y="5669280"/>
            <a:ext cx="2468880" cy="658368"/>
          </a:xfrm>
          <a:prstGeom prst="rect">
            <a:avLst/>
          </a:prstGeom>
          <a:noFill/>
          <a:ln/>
        </p:spPr>
        <p:txBody>
          <a:bodyPr wrap="square" lIns="0" tIns="0" rIns="0" bIns="0" rtlCol="0" anchor="ctr"/>
          <a:lstStyle/>
          <a:p>
            <a:pPr indent="0" marL="0">
              <a:buNone/>
            </a:pPr>
            <a:r>
              <a:rPr lang="en-US" sz="1200" b="1" dirty="0">
                <a:solidFill>
                  <a:srgbClr val="0E2F33"/>
                </a:solidFill>
              </a:rPr>
              <a:t>Federal government</a:t>
            </a:r>
            <a:endParaRPr lang="en-US" sz="1200" dirty="0"/>
          </a:p>
          <a:p>
            <a:pPr indent="0" marL="0">
              <a:buNone/>
            </a:pPr>
            <a:r>
              <a:rPr lang="en-US" sz="1200" dirty="0">
                <a:solidFill>
                  <a:srgbClr val="52666B"/>
                </a:solidFill>
              </a:rPr>
              <a:t>TBS Directive on Automated Decision-Making, Privacy Act</a:t>
            </a:r>
            <a:endParaRPr lang="en-US" sz="1200" dirty="0"/>
          </a:p>
        </p:txBody>
      </p:sp>
      <p:sp>
        <p:nvSpPr>
          <p:cNvPr id="37" name="regulation card 3"/>
          <p:cNvSpPr/>
          <p:nvPr/>
        </p:nvSpPr>
        <p:spPr>
          <a:xfrm>
            <a:off x="8942832" y="5669280"/>
            <a:ext cx="2670048" cy="658368"/>
          </a:xfrm>
          <a:prstGeom prst="roundRect">
            <a:avLst>
              <a:gd name="adj" fmla="val 6944"/>
            </a:avLst>
          </a:prstGeom>
          <a:solidFill>
            <a:srgbClr val="FFFFFF"/>
          </a:solidFill>
          <a:ln w="12700">
            <a:solidFill>
              <a:srgbClr val="C9D8D8"/>
            </a:solidFill>
            <a:prstDash val="solid"/>
          </a:ln>
        </p:spPr>
      </p:sp>
      <p:sp>
        <p:nvSpPr>
          <p:cNvPr id="38" name="regulation text 3"/>
          <p:cNvSpPr txBox="1"/>
          <p:nvPr/>
        </p:nvSpPr>
        <p:spPr>
          <a:xfrm>
            <a:off x="9052560" y="5669280"/>
            <a:ext cx="2468880" cy="658368"/>
          </a:xfrm>
          <a:prstGeom prst="rect">
            <a:avLst/>
          </a:prstGeom>
          <a:noFill/>
          <a:ln/>
        </p:spPr>
        <p:txBody>
          <a:bodyPr wrap="square" lIns="0" tIns="0" rIns="0" bIns="0" rtlCol="0" anchor="ctr"/>
          <a:lstStyle/>
          <a:p>
            <a:pPr indent="0" marL="0">
              <a:buNone/>
            </a:pPr>
            <a:r>
              <a:rPr lang="en-US" sz="1200" b="1" dirty="0">
                <a:solidFill>
                  <a:srgbClr val="0E2F33"/>
                </a:solidFill>
              </a:rPr>
              <a:t>City of Toronto</a:t>
            </a:r>
            <a:endParaRPr lang="en-US" sz="1200" dirty="0"/>
          </a:p>
          <a:p>
            <a:pPr indent="0" marL="0">
              <a:buNone/>
            </a:pPr>
            <a:r>
              <a:rPr lang="en-US" sz="1200" dirty="0">
                <a:solidFill>
                  <a:srgbClr val="52666B"/>
                </a:solidFill>
              </a:rPr>
              <a:t>Generative AI Guidance, MFIPPA</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66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t"/>
          <a:lstStyle/>
          <a:p>
            <a:pPr algn="l" indent="0" marL="0">
              <a:buNone/>
            </a:pPr>
            <a:r>
              <a:rPr lang="en-US" sz="3200" b="1" dirty="0">
                <a:solidFill>
                  <a:srgbClr val="0E2F33"/>
                </a:solidFill>
              </a:rPr>
              <a:t>Control egress: one gateway, a human in the loop</a:t>
            </a:r>
            <a:endParaRPr lang="en-US" sz="3200" dirty="0"/>
          </a:p>
        </p:txBody>
      </p:sp>
      <p:sp>
        <p:nvSpPr>
          <p:cNvPr id="3" name="apps box"/>
          <p:cNvSpPr/>
          <p:nvPr/>
        </p:nvSpPr>
        <p:spPr>
          <a:xfrm>
            <a:off x="548640" y="1371600"/>
            <a:ext cx="2286000" cy="3108960"/>
          </a:xfrm>
          <a:prstGeom prst="roundRect">
            <a:avLst>
              <a:gd name="adj" fmla="val 2400"/>
            </a:avLst>
          </a:prstGeom>
          <a:solidFill>
            <a:srgbClr val="EEF4F4"/>
          </a:solidFill>
          <a:ln w="12700">
            <a:solidFill>
              <a:srgbClr val="C9D8D8"/>
            </a:solidFill>
            <a:prstDash val="solid"/>
          </a:ln>
        </p:spPr>
      </p:sp>
      <p:sp>
        <p:nvSpPr>
          <p:cNvPr id="4" name="apps heading"/>
          <p:cNvSpPr txBox="1"/>
          <p:nvPr/>
        </p:nvSpPr>
        <p:spPr>
          <a:xfrm>
            <a:off x="685800" y="1508760"/>
            <a:ext cx="2011680" cy="320040"/>
          </a:xfrm>
          <a:prstGeom prst="rect">
            <a:avLst/>
          </a:prstGeom>
          <a:noFill/>
          <a:ln/>
        </p:spPr>
        <p:txBody>
          <a:bodyPr wrap="square" lIns="0" tIns="0" rIns="0" bIns="0" rtlCol="0" anchor="t"/>
          <a:lstStyle/>
          <a:p>
            <a:pPr indent="0" marL="0">
              <a:buNone/>
            </a:pPr>
            <a:r>
              <a:rPr lang="en-US" sz="1800" b="1" dirty="0">
                <a:solidFill>
                  <a:srgbClr val="0E2F33"/>
                </a:solidFill>
              </a:rPr>
              <a:t>Apps and users</a:t>
            </a:r>
            <a:endParaRPr lang="en-US" sz="1800" dirty="0"/>
          </a:p>
        </p:txBody>
      </p:sp>
      <p:sp>
        <p:nvSpPr>
          <p:cNvPr id="5" name="apps list"/>
          <p:cNvSpPr txBox="1"/>
          <p:nvPr/>
        </p:nvSpPr>
        <p:spPr>
          <a:xfrm>
            <a:off x="685800" y="1920240"/>
            <a:ext cx="2011680" cy="1188720"/>
          </a:xfrm>
          <a:prstGeom prst="rect">
            <a:avLst/>
          </a:prstGeom>
          <a:noFill/>
          <a:ln/>
        </p:spPr>
        <p:txBody>
          <a:bodyPr wrap="square" lIns="0" tIns="0" rIns="0" bIns="0" rtlCol="0" anchor="t"/>
          <a:lstStyle/>
          <a:p>
            <a:pPr marL="342900" indent="-342900">
              <a:buSzPct val="100000"/>
              <a:buChar char="•"/>
            </a:pPr>
            <a:r>
              <a:rPr lang="en-US" sz="1400" dirty="0">
                <a:solidFill>
                  <a:srgbClr val="10272B"/>
                </a:solidFill>
              </a:rPr>
              <a:t>AI Buddy for CES</a:t>
            </a:r>
            <a:endParaRPr lang="en-US" sz="1400" dirty="0"/>
          </a:p>
          <a:p>
            <a:pPr marL="342900" indent="-342900">
              <a:buSzPct val="100000"/>
              <a:buChar char="•"/>
            </a:pPr>
            <a:r>
              <a:rPr lang="en-US" sz="1400" dirty="0">
                <a:solidFill>
                  <a:srgbClr val="10272B"/>
                </a:solidFill>
              </a:rPr>
              <a:t>Other developer tools</a:t>
            </a:r>
            <a:endParaRPr lang="en-US" sz="1400" dirty="0"/>
          </a:p>
          <a:p>
            <a:pPr marL="342900" indent="-342900">
              <a:buSzPct val="100000"/>
              <a:buChar char="•"/>
            </a:pPr>
            <a:r>
              <a:rPr lang="en-US" sz="1400" dirty="0">
                <a:solidFill>
                  <a:srgbClr val="10272B"/>
                </a:solidFill>
              </a:rPr>
              <a:t>Agents</a:t>
            </a:r>
            <a:endParaRPr lang="en-US" sz="1400" dirty="0"/>
          </a:p>
        </p:txBody>
      </p:sp>
      <p:sp>
        <p:nvSpPr>
          <p:cNvPr id="6" name="apps note"/>
          <p:cNvSpPr txBox="1"/>
          <p:nvPr/>
        </p:nvSpPr>
        <p:spPr>
          <a:xfrm>
            <a:off x="685800" y="3383280"/>
            <a:ext cx="2011680" cy="822960"/>
          </a:xfrm>
          <a:prstGeom prst="rect">
            <a:avLst/>
          </a:prstGeom>
          <a:noFill/>
          <a:ln/>
        </p:spPr>
        <p:txBody>
          <a:bodyPr wrap="square" lIns="0" tIns="0" rIns="0" bIns="0" rtlCol="0" anchor="t"/>
          <a:lstStyle/>
          <a:p>
            <a:pPr indent="0" marL="0">
              <a:buNone/>
            </a:pPr>
            <a:r>
              <a:rPr lang="en-US" sz="1400" dirty="0">
                <a:solidFill>
                  <a:srgbClr val="52666B"/>
                </a:solidFill>
              </a:rPr>
              <a:t>Repoint one endpoint setting. No rebuild.</a:t>
            </a:r>
            <a:endParaRPr lang="en-US" sz="1400" dirty="0"/>
          </a:p>
        </p:txBody>
      </p:sp>
      <p:sp>
        <p:nvSpPr>
          <p:cNvPr id="7" name="apps to gate"/>
          <p:cNvSpPr/>
          <p:nvPr/>
        </p:nvSpPr>
        <p:spPr>
          <a:xfrm>
            <a:off x="2834640" y="2926080"/>
            <a:ext cx="411480" cy="0"/>
          </a:xfrm>
          <a:prstGeom prst="line">
            <a:avLst/>
          </a:prstGeom>
          <a:noFill/>
          <a:ln w="25400">
            <a:solidFill>
              <a:srgbClr val="1F7A74"/>
            </a:solidFill>
            <a:prstDash val="solid"/>
            <a:tailEnd type="triangle"/>
          </a:ln>
        </p:spPr>
      </p:sp>
      <p:sp>
        <p:nvSpPr>
          <p:cNvPr id="8" name="egress rule band"/>
          <p:cNvSpPr/>
          <p:nvPr/>
        </p:nvSpPr>
        <p:spPr>
          <a:xfrm>
            <a:off x="3246120" y="1371600"/>
            <a:ext cx="502920" cy="3108960"/>
          </a:xfrm>
          <a:prstGeom prst="roundRect">
            <a:avLst>
              <a:gd name="adj" fmla="val 9091"/>
            </a:avLst>
          </a:prstGeom>
          <a:solidFill>
            <a:srgbClr val="FDF1DC"/>
          </a:solidFill>
          <a:ln w="19050">
            <a:solidFill>
              <a:srgbClr val="E39B2D"/>
            </a:solidFill>
            <a:prstDash val="solid"/>
          </a:ln>
        </p:spPr>
      </p:sp>
      <p:sp>
        <p:nvSpPr>
          <p:cNvPr id="9" name="egress rule label"/>
          <p:cNvSpPr txBox="1"/>
          <p:nvPr/>
        </p:nvSpPr>
        <p:spPr>
          <a:xfrm rot="16200000">
            <a:off x="2103120" y="2743200"/>
            <a:ext cx="2743200" cy="365760"/>
          </a:xfrm>
          <a:prstGeom prst="rect">
            <a:avLst/>
          </a:prstGeom>
          <a:noFill/>
          <a:ln/>
        </p:spPr>
        <p:txBody>
          <a:bodyPr wrap="square" lIns="0" tIns="0" rIns="0" bIns="0" rtlCol="0" anchor="ctr"/>
          <a:lstStyle/>
          <a:p>
            <a:pPr algn="ctr" indent="0" marL="0">
              <a:buNone/>
            </a:pPr>
            <a:r>
              <a:rPr lang="en-US" sz="1200" b="1" dirty="0">
                <a:solidFill>
                  <a:srgbClr val="7A4A00"/>
                </a:solidFill>
              </a:rPr>
              <a:t>Egress control: only the gateway reaches model providers</a:t>
            </a:r>
            <a:endParaRPr lang="en-US" sz="1200" dirty="0"/>
          </a:p>
        </p:txBody>
      </p:sp>
      <p:sp>
        <p:nvSpPr>
          <p:cNvPr id="10" name="gate to gateway"/>
          <p:cNvSpPr/>
          <p:nvPr/>
        </p:nvSpPr>
        <p:spPr>
          <a:xfrm>
            <a:off x="3749040" y="2926080"/>
            <a:ext cx="457200" cy="0"/>
          </a:xfrm>
          <a:prstGeom prst="line">
            <a:avLst/>
          </a:prstGeom>
          <a:noFill/>
          <a:ln w="25400">
            <a:solidFill>
              <a:srgbClr val="1F7A74"/>
            </a:solidFill>
            <a:prstDash val="solid"/>
            <a:tailEnd type="triangle"/>
          </a:ln>
        </p:spPr>
      </p:sp>
      <p:sp>
        <p:nvSpPr>
          <p:cNvPr id="11" name="gateway box"/>
          <p:cNvSpPr/>
          <p:nvPr/>
        </p:nvSpPr>
        <p:spPr>
          <a:xfrm>
            <a:off x="4206240" y="1371600"/>
            <a:ext cx="4297680" cy="3108960"/>
          </a:xfrm>
          <a:prstGeom prst="roundRect">
            <a:avLst>
              <a:gd name="adj" fmla="val 2353"/>
            </a:avLst>
          </a:prstGeom>
          <a:solidFill>
            <a:srgbClr val="0E2F33"/>
          </a:solidFill>
          <a:ln w="12700">
            <a:solidFill>
              <a:srgbClr val="0E2F33"/>
            </a:solidFill>
            <a:prstDash val="solid"/>
          </a:ln>
        </p:spPr>
      </p:sp>
      <p:sp>
        <p:nvSpPr>
          <p:cNvPr id="12" name="gateway heading"/>
          <p:cNvSpPr txBox="1"/>
          <p:nvPr/>
        </p:nvSpPr>
        <p:spPr>
          <a:xfrm>
            <a:off x="4434840" y="1481328"/>
            <a:ext cx="2743200" cy="365760"/>
          </a:xfrm>
          <a:prstGeom prst="rect">
            <a:avLst/>
          </a:prstGeom>
          <a:noFill/>
          <a:ln/>
        </p:spPr>
        <p:txBody>
          <a:bodyPr wrap="square" lIns="0" tIns="0" rIns="0" bIns="0" rtlCol="0" anchor="t"/>
          <a:lstStyle/>
          <a:p>
            <a:pPr indent="0" marL="0">
              <a:buNone/>
            </a:pPr>
            <a:r>
              <a:rPr lang="en-US" sz="2000" b="1" dirty="0">
                <a:solidFill>
                  <a:srgbClr val="FFFFFF"/>
                </a:solidFill>
              </a:rPr>
              <a:t>Gateway</a:t>
            </a:r>
            <a:endParaRPr lang="en-US" sz="2000" dirty="0"/>
          </a:p>
        </p:txBody>
      </p:sp>
      <p:sp>
        <p:nvSpPr>
          <p:cNvPr id="13" name="gateway class dot 0"/>
          <p:cNvSpPr/>
          <p:nvPr/>
        </p:nvSpPr>
        <p:spPr>
          <a:xfrm>
            <a:off x="7498080" y="1609344"/>
            <a:ext cx="146304" cy="146304"/>
          </a:xfrm>
          <a:prstGeom prst="ellipse">
            <a:avLst/>
          </a:prstGeom>
          <a:solidFill>
            <a:srgbClr val="8794A0"/>
          </a:solidFill>
          <a:ln w="12700">
            <a:solidFill>
              <a:srgbClr val="8794A0"/>
            </a:solidFill>
            <a:prstDash val="solid"/>
          </a:ln>
        </p:spPr>
      </p:sp>
      <p:sp>
        <p:nvSpPr>
          <p:cNvPr id="14" name="gateway class dot 1"/>
          <p:cNvSpPr/>
          <p:nvPr/>
        </p:nvSpPr>
        <p:spPr>
          <a:xfrm>
            <a:off x="7708392" y="1609344"/>
            <a:ext cx="146304" cy="146304"/>
          </a:xfrm>
          <a:prstGeom prst="ellipse">
            <a:avLst/>
          </a:prstGeom>
          <a:solidFill>
            <a:srgbClr val="2271B3"/>
          </a:solidFill>
          <a:ln w="12700">
            <a:solidFill>
              <a:srgbClr val="2271B3"/>
            </a:solidFill>
            <a:prstDash val="solid"/>
          </a:ln>
        </p:spPr>
      </p:sp>
      <p:sp>
        <p:nvSpPr>
          <p:cNvPr id="15" name="gateway class dot 2"/>
          <p:cNvSpPr/>
          <p:nvPr/>
        </p:nvSpPr>
        <p:spPr>
          <a:xfrm>
            <a:off x="7918704" y="1609344"/>
            <a:ext cx="146304" cy="146304"/>
          </a:xfrm>
          <a:prstGeom prst="ellipse">
            <a:avLst/>
          </a:prstGeom>
          <a:solidFill>
            <a:srgbClr val="0D8A7C"/>
          </a:solidFill>
          <a:ln w="12700">
            <a:solidFill>
              <a:srgbClr val="0D8A7C"/>
            </a:solidFill>
            <a:prstDash val="solid"/>
          </a:ln>
        </p:spPr>
      </p:sp>
      <p:sp>
        <p:nvSpPr>
          <p:cNvPr id="16" name="gateway class dot 3"/>
          <p:cNvSpPr/>
          <p:nvPr/>
        </p:nvSpPr>
        <p:spPr>
          <a:xfrm>
            <a:off x="8129016" y="1609344"/>
            <a:ext cx="146304" cy="146304"/>
          </a:xfrm>
          <a:prstGeom prst="ellipse">
            <a:avLst/>
          </a:prstGeom>
          <a:solidFill>
            <a:srgbClr val="6C3FA3"/>
          </a:solidFill>
          <a:ln w="12700">
            <a:solidFill>
              <a:srgbClr val="6C3FA3"/>
            </a:solidFill>
            <a:prstDash val="solid"/>
          </a:ln>
        </p:spPr>
      </p:sp>
      <p:sp>
        <p:nvSpPr>
          <p:cNvPr id="17" name="gateway step 1"/>
          <p:cNvSpPr/>
          <p:nvPr/>
        </p:nvSpPr>
        <p:spPr>
          <a:xfrm>
            <a:off x="4434840" y="1965960"/>
            <a:ext cx="3840480" cy="384048"/>
          </a:xfrm>
          <a:prstGeom prst="roundRect">
            <a:avLst>
              <a:gd name="adj" fmla="val 11905"/>
            </a:avLst>
          </a:prstGeom>
          <a:solidFill>
            <a:srgbClr val="174A4E"/>
          </a:solidFill>
          <a:ln w="12700">
            <a:solidFill>
              <a:srgbClr val="174A4E"/>
            </a:solidFill>
            <a:prstDash val="solid"/>
          </a:ln>
        </p:spPr>
      </p:sp>
      <p:sp>
        <p:nvSpPr>
          <p:cNvPr id="18" name="step badge 1"/>
          <p:cNvSpPr/>
          <p:nvPr/>
        </p:nvSpPr>
        <p:spPr>
          <a:xfrm>
            <a:off x="4526280" y="2029968"/>
            <a:ext cx="256032" cy="256032"/>
          </a:xfrm>
          <a:prstGeom prst="ellipse">
            <a:avLst/>
          </a:prstGeom>
          <a:solidFill>
            <a:srgbClr val="FFFFFF"/>
          </a:solidFill>
          <a:ln w="12700">
            <a:solidFill>
              <a:srgbClr val="FFFFFF"/>
            </a:solidFill>
            <a:prstDash val="solid"/>
          </a:ln>
        </p:spPr>
      </p:sp>
      <p:sp>
        <p:nvSpPr>
          <p:cNvPr id="19" name="step number 1"/>
          <p:cNvSpPr txBox="1"/>
          <p:nvPr/>
        </p:nvSpPr>
        <p:spPr>
          <a:xfrm>
            <a:off x="4526280" y="2029968"/>
            <a:ext cx="256032" cy="256032"/>
          </a:xfrm>
          <a:prstGeom prst="rect">
            <a:avLst/>
          </a:prstGeom>
          <a:noFill/>
          <a:ln/>
        </p:spPr>
        <p:txBody>
          <a:bodyPr wrap="square" lIns="0" tIns="0" rIns="0" bIns="0" rtlCol="0" anchor="ctr"/>
          <a:lstStyle/>
          <a:p>
            <a:pPr algn="ctr" indent="0" marL="0">
              <a:buNone/>
            </a:pPr>
            <a:r>
              <a:rPr lang="en-US" sz="1200" b="1" dirty="0">
                <a:solidFill>
                  <a:srgbClr val="0E2F33"/>
                </a:solidFill>
              </a:rPr>
              <a:t>1</a:t>
            </a:r>
            <a:endParaRPr lang="en-US" sz="1200" dirty="0"/>
          </a:p>
        </p:txBody>
      </p:sp>
      <p:sp>
        <p:nvSpPr>
          <p:cNvPr id="20" name="step label 1"/>
          <p:cNvSpPr txBox="1"/>
          <p:nvPr/>
        </p:nvSpPr>
        <p:spPr>
          <a:xfrm>
            <a:off x="4892040" y="1965960"/>
            <a:ext cx="3291840" cy="384048"/>
          </a:xfrm>
          <a:prstGeom prst="rect">
            <a:avLst/>
          </a:prstGeom>
          <a:noFill/>
          <a:ln/>
        </p:spPr>
        <p:txBody>
          <a:bodyPr wrap="square" lIns="0" tIns="0" rIns="0" bIns="0" rtlCol="0" anchor="ctr"/>
          <a:lstStyle/>
          <a:p>
            <a:pPr indent="0" marL="0">
              <a:buNone/>
            </a:pPr>
            <a:r>
              <a:rPr lang="en-US" sz="1400" b="1" dirty="0">
                <a:solidFill>
                  <a:srgbClr val="FFFFFF"/>
                </a:solidFill>
              </a:rPr>
              <a:t>Classify what is sent</a:t>
            </a:r>
            <a:endParaRPr lang="en-US" sz="1400" dirty="0"/>
          </a:p>
        </p:txBody>
      </p:sp>
      <p:sp>
        <p:nvSpPr>
          <p:cNvPr id="21" name="gateway step 2"/>
          <p:cNvSpPr/>
          <p:nvPr/>
        </p:nvSpPr>
        <p:spPr>
          <a:xfrm>
            <a:off x="4434840" y="2441448"/>
            <a:ext cx="3840480" cy="384048"/>
          </a:xfrm>
          <a:prstGeom prst="roundRect">
            <a:avLst>
              <a:gd name="adj" fmla="val 11905"/>
            </a:avLst>
          </a:prstGeom>
          <a:solidFill>
            <a:srgbClr val="174A4E"/>
          </a:solidFill>
          <a:ln w="12700">
            <a:solidFill>
              <a:srgbClr val="174A4E"/>
            </a:solidFill>
            <a:prstDash val="solid"/>
          </a:ln>
        </p:spPr>
      </p:sp>
      <p:sp>
        <p:nvSpPr>
          <p:cNvPr id="22" name="step badge 2"/>
          <p:cNvSpPr/>
          <p:nvPr/>
        </p:nvSpPr>
        <p:spPr>
          <a:xfrm>
            <a:off x="4526280" y="2505456"/>
            <a:ext cx="256032" cy="256032"/>
          </a:xfrm>
          <a:prstGeom prst="ellipse">
            <a:avLst/>
          </a:prstGeom>
          <a:solidFill>
            <a:srgbClr val="FFFFFF"/>
          </a:solidFill>
          <a:ln w="12700">
            <a:solidFill>
              <a:srgbClr val="FFFFFF"/>
            </a:solidFill>
            <a:prstDash val="solid"/>
          </a:ln>
        </p:spPr>
      </p:sp>
      <p:sp>
        <p:nvSpPr>
          <p:cNvPr id="23" name="step number 2"/>
          <p:cNvSpPr txBox="1"/>
          <p:nvPr/>
        </p:nvSpPr>
        <p:spPr>
          <a:xfrm>
            <a:off x="4526280" y="2505456"/>
            <a:ext cx="256032" cy="256032"/>
          </a:xfrm>
          <a:prstGeom prst="rect">
            <a:avLst/>
          </a:prstGeom>
          <a:noFill/>
          <a:ln/>
        </p:spPr>
        <p:txBody>
          <a:bodyPr wrap="square" lIns="0" tIns="0" rIns="0" bIns="0" rtlCol="0" anchor="ctr"/>
          <a:lstStyle/>
          <a:p>
            <a:pPr algn="ctr" indent="0" marL="0">
              <a:buNone/>
            </a:pPr>
            <a:r>
              <a:rPr lang="en-US" sz="1200" b="1" dirty="0">
                <a:solidFill>
                  <a:srgbClr val="0E2F33"/>
                </a:solidFill>
              </a:rPr>
              <a:t>2</a:t>
            </a:r>
            <a:endParaRPr lang="en-US" sz="1200" dirty="0"/>
          </a:p>
        </p:txBody>
      </p:sp>
      <p:sp>
        <p:nvSpPr>
          <p:cNvPr id="24" name="step label 2"/>
          <p:cNvSpPr txBox="1"/>
          <p:nvPr/>
        </p:nvSpPr>
        <p:spPr>
          <a:xfrm>
            <a:off x="4892040" y="2441448"/>
            <a:ext cx="3291840" cy="384048"/>
          </a:xfrm>
          <a:prstGeom prst="rect">
            <a:avLst/>
          </a:prstGeom>
          <a:noFill/>
          <a:ln/>
        </p:spPr>
        <p:txBody>
          <a:bodyPr wrap="square" lIns="0" tIns="0" rIns="0" bIns="0" rtlCol="0" anchor="ctr"/>
          <a:lstStyle/>
          <a:p>
            <a:pPr indent="0" marL="0">
              <a:buNone/>
            </a:pPr>
            <a:r>
              <a:rPr lang="en-US" sz="1400" b="1" dirty="0">
                <a:solidFill>
                  <a:srgbClr val="FFFFFF"/>
                </a:solidFill>
              </a:rPr>
              <a:t>Check against policy</a:t>
            </a:r>
            <a:endParaRPr lang="en-US" sz="1400" dirty="0"/>
          </a:p>
        </p:txBody>
      </p:sp>
      <p:sp>
        <p:nvSpPr>
          <p:cNvPr id="25" name="gateway step 3"/>
          <p:cNvSpPr/>
          <p:nvPr/>
        </p:nvSpPr>
        <p:spPr>
          <a:xfrm>
            <a:off x="4434840" y="2916936"/>
            <a:ext cx="3840480" cy="384048"/>
          </a:xfrm>
          <a:prstGeom prst="roundRect">
            <a:avLst>
              <a:gd name="adj" fmla="val 11905"/>
            </a:avLst>
          </a:prstGeom>
          <a:solidFill>
            <a:srgbClr val="174A4E"/>
          </a:solidFill>
          <a:ln w="12700">
            <a:solidFill>
              <a:srgbClr val="174A4E"/>
            </a:solidFill>
            <a:prstDash val="solid"/>
          </a:ln>
        </p:spPr>
      </p:sp>
      <p:sp>
        <p:nvSpPr>
          <p:cNvPr id="26" name="step badge 3"/>
          <p:cNvSpPr/>
          <p:nvPr/>
        </p:nvSpPr>
        <p:spPr>
          <a:xfrm>
            <a:off x="4526280" y="2980944"/>
            <a:ext cx="256032" cy="256032"/>
          </a:xfrm>
          <a:prstGeom prst="ellipse">
            <a:avLst/>
          </a:prstGeom>
          <a:solidFill>
            <a:srgbClr val="FFFFFF"/>
          </a:solidFill>
          <a:ln w="12700">
            <a:solidFill>
              <a:srgbClr val="FFFFFF"/>
            </a:solidFill>
            <a:prstDash val="solid"/>
          </a:ln>
        </p:spPr>
      </p:sp>
      <p:sp>
        <p:nvSpPr>
          <p:cNvPr id="27" name="step number 3"/>
          <p:cNvSpPr txBox="1"/>
          <p:nvPr/>
        </p:nvSpPr>
        <p:spPr>
          <a:xfrm>
            <a:off x="4526280" y="2980944"/>
            <a:ext cx="256032" cy="256032"/>
          </a:xfrm>
          <a:prstGeom prst="rect">
            <a:avLst/>
          </a:prstGeom>
          <a:noFill/>
          <a:ln/>
        </p:spPr>
        <p:txBody>
          <a:bodyPr wrap="square" lIns="0" tIns="0" rIns="0" bIns="0" rtlCol="0" anchor="ctr"/>
          <a:lstStyle/>
          <a:p>
            <a:pPr algn="ctr" indent="0" marL="0">
              <a:buNone/>
            </a:pPr>
            <a:r>
              <a:rPr lang="en-US" sz="1200" b="1" dirty="0">
                <a:solidFill>
                  <a:srgbClr val="0E2F33"/>
                </a:solidFill>
              </a:rPr>
              <a:t>3</a:t>
            </a:r>
            <a:endParaRPr lang="en-US" sz="1200" dirty="0"/>
          </a:p>
        </p:txBody>
      </p:sp>
      <p:sp>
        <p:nvSpPr>
          <p:cNvPr id="28" name="step label 3"/>
          <p:cNvSpPr txBox="1"/>
          <p:nvPr/>
        </p:nvSpPr>
        <p:spPr>
          <a:xfrm>
            <a:off x="4892040" y="2916936"/>
            <a:ext cx="3291840" cy="384048"/>
          </a:xfrm>
          <a:prstGeom prst="rect">
            <a:avLst/>
          </a:prstGeom>
          <a:noFill/>
          <a:ln/>
        </p:spPr>
        <p:txBody>
          <a:bodyPr wrap="square" lIns="0" tIns="0" rIns="0" bIns="0" rtlCol="0" anchor="ctr"/>
          <a:lstStyle/>
          <a:p>
            <a:pPr indent="0" marL="0">
              <a:buNone/>
            </a:pPr>
            <a:r>
              <a:rPr lang="en-US" sz="1400" b="1" dirty="0">
                <a:solidFill>
                  <a:srgbClr val="FFFFFF"/>
                </a:solidFill>
              </a:rPr>
              <a:t>Mask sensitive values</a:t>
            </a:r>
            <a:endParaRPr lang="en-US" sz="1400" dirty="0"/>
          </a:p>
        </p:txBody>
      </p:sp>
      <p:sp>
        <p:nvSpPr>
          <p:cNvPr id="29" name="gateway step 4"/>
          <p:cNvSpPr/>
          <p:nvPr/>
        </p:nvSpPr>
        <p:spPr>
          <a:xfrm>
            <a:off x="4434840" y="3392424"/>
            <a:ext cx="3840480" cy="384048"/>
          </a:xfrm>
          <a:prstGeom prst="roundRect">
            <a:avLst>
              <a:gd name="adj" fmla="val 11905"/>
            </a:avLst>
          </a:prstGeom>
          <a:solidFill>
            <a:srgbClr val="E39B2D"/>
          </a:solidFill>
          <a:ln w="12700">
            <a:solidFill>
              <a:srgbClr val="E39B2D"/>
            </a:solidFill>
            <a:prstDash val="solid"/>
          </a:ln>
        </p:spPr>
      </p:sp>
      <p:sp>
        <p:nvSpPr>
          <p:cNvPr id="30" name="step badge 4"/>
          <p:cNvSpPr/>
          <p:nvPr/>
        </p:nvSpPr>
        <p:spPr>
          <a:xfrm>
            <a:off x="4526280" y="3456432"/>
            <a:ext cx="256032" cy="256032"/>
          </a:xfrm>
          <a:prstGeom prst="ellipse">
            <a:avLst/>
          </a:prstGeom>
          <a:solidFill>
            <a:srgbClr val="FFFFFF"/>
          </a:solidFill>
          <a:ln w="12700">
            <a:solidFill>
              <a:srgbClr val="FFFFFF"/>
            </a:solidFill>
            <a:prstDash val="solid"/>
          </a:ln>
        </p:spPr>
      </p:sp>
      <p:sp>
        <p:nvSpPr>
          <p:cNvPr id="31" name="step number 4"/>
          <p:cNvSpPr txBox="1"/>
          <p:nvPr/>
        </p:nvSpPr>
        <p:spPr>
          <a:xfrm>
            <a:off x="4526280" y="3456432"/>
            <a:ext cx="256032" cy="256032"/>
          </a:xfrm>
          <a:prstGeom prst="rect">
            <a:avLst/>
          </a:prstGeom>
          <a:noFill/>
          <a:ln/>
        </p:spPr>
        <p:txBody>
          <a:bodyPr wrap="square" lIns="0" tIns="0" rIns="0" bIns="0" rtlCol="0" anchor="ctr"/>
          <a:lstStyle/>
          <a:p>
            <a:pPr algn="ctr" indent="0" marL="0">
              <a:buNone/>
            </a:pPr>
            <a:r>
              <a:rPr lang="en-US" sz="1200" b="1" dirty="0">
                <a:solidFill>
                  <a:srgbClr val="0E2F33"/>
                </a:solidFill>
              </a:rPr>
              <a:t>4</a:t>
            </a:r>
            <a:endParaRPr lang="en-US" sz="1200" dirty="0"/>
          </a:p>
        </p:txBody>
      </p:sp>
      <p:sp>
        <p:nvSpPr>
          <p:cNvPr id="32" name="step label 4"/>
          <p:cNvSpPr txBox="1"/>
          <p:nvPr/>
        </p:nvSpPr>
        <p:spPr>
          <a:xfrm>
            <a:off x="4892040" y="3392424"/>
            <a:ext cx="3291840" cy="384048"/>
          </a:xfrm>
          <a:prstGeom prst="rect">
            <a:avLst/>
          </a:prstGeom>
          <a:noFill/>
          <a:ln/>
        </p:spPr>
        <p:txBody>
          <a:bodyPr wrap="square" lIns="0" tIns="0" rIns="0" bIns="0" rtlCol="0" anchor="ctr"/>
          <a:lstStyle/>
          <a:p>
            <a:pPr indent="0" marL="0">
              <a:buNone/>
            </a:pPr>
            <a:r>
              <a:rPr lang="en-US" sz="1400" b="1" dirty="0">
                <a:solidFill>
                  <a:srgbClr val="10272B"/>
                </a:solidFill>
              </a:rPr>
              <a:t>Human in the loop for risky requests</a:t>
            </a:r>
            <a:endParaRPr lang="en-US" sz="1400" dirty="0"/>
          </a:p>
        </p:txBody>
      </p:sp>
      <p:sp>
        <p:nvSpPr>
          <p:cNvPr id="33" name="gateway step 5"/>
          <p:cNvSpPr/>
          <p:nvPr/>
        </p:nvSpPr>
        <p:spPr>
          <a:xfrm>
            <a:off x="4434840" y="3867912"/>
            <a:ext cx="3840480" cy="384048"/>
          </a:xfrm>
          <a:prstGeom prst="roundRect">
            <a:avLst>
              <a:gd name="adj" fmla="val 11905"/>
            </a:avLst>
          </a:prstGeom>
          <a:solidFill>
            <a:srgbClr val="174A4E"/>
          </a:solidFill>
          <a:ln w="12700">
            <a:solidFill>
              <a:srgbClr val="174A4E"/>
            </a:solidFill>
            <a:prstDash val="solid"/>
          </a:ln>
        </p:spPr>
      </p:sp>
      <p:sp>
        <p:nvSpPr>
          <p:cNvPr id="34" name="step badge 5"/>
          <p:cNvSpPr/>
          <p:nvPr/>
        </p:nvSpPr>
        <p:spPr>
          <a:xfrm>
            <a:off x="4526280" y="3931920"/>
            <a:ext cx="256032" cy="256032"/>
          </a:xfrm>
          <a:prstGeom prst="ellipse">
            <a:avLst/>
          </a:prstGeom>
          <a:solidFill>
            <a:srgbClr val="FFFFFF"/>
          </a:solidFill>
          <a:ln w="12700">
            <a:solidFill>
              <a:srgbClr val="FFFFFF"/>
            </a:solidFill>
            <a:prstDash val="solid"/>
          </a:ln>
        </p:spPr>
      </p:sp>
      <p:sp>
        <p:nvSpPr>
          <p:cNvPr id="35" name="step number 5"/>
          <p:cNvSpPr txBox="1"/>
          <p:nvPr/>
        </p:nvSpPr>
        <p:spPr>
          <a:xfrm>
            <a:off x="4526280" y="3931920"/>
            <a:ext cx="256032" cy="256032"/>
          </a:xfrm>
          <a:prstGeom prst="rect">
            <a:avLst/>
          </a:prstGeom>
          <a:noFill/>
          <a:ln/>
        </p:spPr>
        <p:txBody>
          <a:bodyPr wrap="square" lIns="0" tIns="0" rIns="0" bIns="0" rtlCol="0" anchor="ctr"/>
          <a:lstStyle/>
          <a:p>
            <a:pPr algn="ctr" indent="0" marL="0">
              <a:buNone/>
            </a:pPr>
            <a:r>
              <a:rPr lang="en-US" sz="1200" b="1" dirty="0">
                <a:solidFill>
                  <a:srgbClr val="0E2F33"/>
                </a:solidFill>
              </a:rPr>
              <a:t>5</a:t>
            </a:r>
            <a:endParaRPr lang="en-US" sz="1200" dirty="0"/>
          </a:p>
        </p:txBody>
      </p:sp>
      <p:sp>
        <p:nvSpPr>
          <p:cNvPr id="36" name="step label 5"/>
          <p:cNvSpPr txBox="1"/>
          <p:nvPr/>
        </p:nvSpPr>
        <p:spPr>
          <a:xfrm>
            <a:off x="4892040" y="3867912"/>
            <a:ext cx="3291840" cy="384048"/>
          </a:xfrm>
          <a:prstGeom prst="rect">
            <a:avLst/>
          </a:prstGeom>
          <a:noFill/>
          <a:ln/>
        </p:spPr>
        <p:txBody>
          <a:bodyPr wrap="square" lIns="0" tIns="0" rIns="0" bIns="0" rtlCol="0" anchor="ctr"/>
          <a:lstStyle/>
          <a:p>
            <a:pPr indent="0" marL="0">
              <a:buNone/>
            </a:pPr>
            <a:r>
              <a:rPr lang="en-US" sz="1400" b="1" dirty="0">
                <a:solidFill>
                  <a:srgbClr val="FFFFFF"/>
                </a:solidFill>
              </a:rPr>
              <a:t>Sign and chain a receipt</a:t>
            </a:r>
            <a:endParaRPr lang="en-US" sz="1400" dirty="0"/>
          </a:p>
        </p:txBody>
      </p:sp>
      <p:sp>
        <p:nvSpPr>
          <p:cNvPr id="37" name="destination 1"/>
          <p:cNvSpPr/>
          <p:nvPr/>
        </p:nvSpPr>
        <p:spPr>
          <a:xfrm>
            <a:off x="9189720" y="1371600"/>
            <a:ext cx="2468880" cy="914400"/>
          </a:xfrm>
          <a:prstGeom prst="roundRect">
            <a:avLst>
              <a:gd name="adj" fmla="val 6000"/>
            </a:avLst>
          </a:prstGeom>
          <a:solidFill>
            <a:srgbClr val="FFFFFF"/>
          </a:solidFill>
          <a:ln w="19050">
            <a:solidFill>
              <a:srgbClr val="1F7A74"/>
            </a:solidFill>
            <a:prstDash val="solid"/>
          </a:ln>
        </p:spPr>
      </p:sp>
      <p:sp>
        <p:nvSpPr>
          <p:cNvPr id="38" name="destination text 1"/>
          <p:cNvSpPr txBox="1"/>
          <p:nvPr/>
        </p:nvSpPr>
        <p:spPr>
          <a:xfrm>
            <a:off x="9326880" y="1417320"/>
            <a:ext cx="2240280" cy="822960"/>
          </a:xfrm>
          <a:prstGeom prst="rect">
            <a:avLst/>
          </a:prstGeom>
          <a:noFill/>
          <a:ln/>
        </p:spPr>
        <p:txBody>
          <a:bodyPr wrap="square" lIns="0" tIns="0" rIns="0" bIns="0" rtlCol="0" anchor="ctr"/>
          <a:lstStyle/>
          <a:p>
            <a:pPr indent="0" marL="0">
              <a:buNone/>
            </a:pPr>
            <a:r>
              <a:rPr lang="en-US" sz="1400" b="1" dirty="0">
                <a:solidFill>
                  <a:srgbClr val="0E2F33"/>
                </a:solidFill>
              </a:rPr>
              <a:t>Hosted API</a:t>
            </a:r>
            <a:endParaRPr lang="en-US" sz="1400" dirty="0"/>
          </a:p>
          <a:p>
            <a:pPr indent="0" marL="0">
              <a:buNone/>
            </a:pPr>
            <a:r>
              <a:rPr lang="en-US" sz="1200" dirty="0">
                <a:solidFill>
                  <a:srgbClr val="52666B"/>
                </a:solidFill>
              </a:rPr>
              <a:t>Vendor cloud</a:t>
            </a:r>
            <a:endParaRPr lang="en-US" sz="1400" dirty="0"/>
          </a:p>
        </p:txBody>
      </p:sp>
      <p:sp>
        <p:nvSpPr>
          <p:cNvPr id="39" name="gateway to destination 1"/>
          <p:cNvSpPr/>
          <p:nvPr/>
        </p:nvSpPr>
        <p:spPr>
          <a:xfrm flipV="1">
            <a:off x="8503920" y="1828800"/>
            <a:ext cx="685800" cy="1097280"/>
          </a:xfrm>
          <a:prstGeom prst="line">
            <a:avLst/>
          </a:prstGeom>
          <a:noFill/>
          <a:ln w="25400">
            <a:solidFill>
              <a:srgbClr val="1F7A74"/>
            </a:solidFill>
            <a:prstDash val="solid"/>
            <a:tailEnd type="triangle"/>
          </a:ln>
        </p:spPr>
      </p:sp>
      <p:sp>
        <p:nvSpPr>
          <p:cNvPr id="40" name="destination 2"/>
          <p:cNvSpPr/>
          <p:nvPr/>
        </p:nvSpPr>
        <p:spPr>
          <a:xfrm>
            <a:off x="9189720" y="2468880"/>
            <a:ext cx="2468880" cy="914400"/>
          </a:xfrm>
          <a:prstGeom prst="roundRect">
            <a:avLst>
              <a:gd name="adj" fmla="val 6000"/>
            </a:avLst>
          </a:prstGeom>
          <a:solidFill>
            <a:srgbClr val="FFFFFF"/>
          </a:solidFill>
          <a:ln w="19050">
            <a:solidFill>
              <a:srgbClr val="1F7A74"/>
            </a:solidFill>
            <a:prstDash val="solid"/>
          </a:ln>
        </p:spPr>
      </p:sp>
      <p:sp>
        <p:nvSpPr>
          <p:cNvPr id="41" name="destination text 2"/>
          <p:cNvSpPr txBox="1"/>
          <p:nvPr/>
        </p:nvSpPr>
        <p:spPr>
          <a:xfrm>
            <a:off x="9326880" y="2514600"/>
            <a:ext cx="2240280" cy="822960"/>
          </a:xfrm>
          <a:prstGeom prst="rect">
            <a:avLst/>
          </a:prstGeom>
          <a:noFill/>
          <a:ln/>
        </p:spPr>
        <p:txBody>
          <a:bodyPr wrap="square" lIns="0" tIns="0" rIns="0" bIns="0" rtlCol="0" anchor="ctr"/>
          <a:lstStyle/>
          <a:p>
            <a:pPr indent="0" marL="0">
              <a:buNone/>
            </a:pPr>
            <a:r>
              <a:rPr lang="en-US" sz="1400" b="1" dirty="0">
                <a:solidFill>
                  <a:srgbClr val="0E2F33"/>
                </a:solidFill>
              </a:rPr>
              <a:t>Canadian cloud region</a:t>
            </a:r>
            <a:endParaRPr lang="en-US" sz="1400" dirty="0"/>
          </a:p>
          <a:p>
            <a:pPr indent="0" marL="0">
              <a:buNone/>
            </a:pPr>
            <a:r>
              <a:rPr lang="en-US" sz="1200" dirty="0">
                <a:solidFill>
                  <a:srgbClr val="52666B"/>
                </a:solidFill>
              </a:rPr>
              <a:t>Bedrock or Vertex AI</a:t>
            </a:r>
            <a:endParaRPr lang="en-US" sz="1400" dirty="0"/>
          </a:p>
        </p:txBody>
      </p:sp>
      <p:sp>
        <p:nvSpPr>
          <p:cNvPr id="42" name="gateway to destination 2"/>
          <p:cNvSpPr/>
          <p:nvPr/>
        </p:nvSpPr>
        <p:spPr>
          <a:xfrm>
            <a:off x="8503920" y="2926080"/>
            <a:ext cx="685800" cy="0"/>
          </a:xfrm>
          <a:prstGeom prst="line">
            <a:avLst/>
          </a:prstGeom>
          <a:noFill/>
          <a:ln w="25400">
            <a:solidFill>
              <a:srgbClr val="1F7A74"/>
            </a:solidFill>
            <a:prstDash val="solid"/>
            <a:tailEnd type="triangle"/>
          </a:ln>
        </p:spPr>
      </p:sp>
      <p:sp>
        <p:nvSpPr>
          <p:cNvPr id="43" name="destination 3"/>
          <p:cNvSpPr/>
          <p:nvPr/>
        </p:nvSpPr>
        <p:spPr>
          <a:xfrm>
            <a:off x="9189720" y="3566160"/>
            <a:ext cx="2468880" cy="914400"/>
          </a:xfrm>
          <a:prstGeom prst="roundRect">
            <a:avLst>
              <a:gd name="adj" fmla="val 6000"/>
            </a:avLst>
          </a:prstGeom>
          <a:solidFill>
            <a:srgbClr val="FFFFFF"/>
          </a:solidFill>
          <a:ln w="19050">
            <a:solidFill>
              <a:srgbClr val="1F7A74"/>
            </a:solidFill>
            <a:prstDash val="solid"/>
          </a:ln>
        </p:spPr>
      </p:sp>
      <p:sp>
        <p:nvSpPr>
          <p:cNvPr id="44" name="destination text 3"/>
          <p:cNvSpPr txBox="1"/>
          <p:nvPr/>
        </p:nvSpPr>
        <p:spPr>
          <a:xfrm>
            <a:off x="9326880" y="3611880"/>
            <a:ext cx="2240280" cy="822960"/>
          </a:xfrm>
          <a:prstGeom prst="rect">
            <a:avLst/>
          </a:prstGeom>
          <a:noFill/>
          <a:ln/>
        </p:spPr>
        <p:txBody>
          <a:bodyPr wrap="square" lIns="0" tIns="0" rIns="0" bIns="0" rtlCol="0" anchor="ctr"/>
          <a:lstStyle/>
          <a:p>
            <a:pPr indent="0" marL="0">
              <a:buNone/>
            </a:pPr>
            <a:r>
              <a:rPr lang="en-US" sz="1400" b="1" dirty="0">
                <a:solidFill>
                  <a:srgbClr val="0E2F33"/>
                </a:solidFill>
              </a:rPr>
              <a:t>Self-hosted model</a:t>
            </a:r>
            <a:endParaRPr lang="en-US" sz="1400" dirty="0"/>
          </a:p>
          <a:p>
            <a:pPr indent="0" marL="0">
              <a:buNone/>
            </a:pPr>
            <a:r>
              <a:rPr lang="en-US" sz="1200" dirty="0">
                <a:solidFill>
                  <a:srgbClr val="52666B"/>
                </a:solidFill>
              </a:rPr>
              <a:t>Open-weight, on our infrastructure</a:t>
            </a:r>
            <a:endParaRPr lang="en-US" sz="1400" dirty="0"/>
          </a:p>
        </p:txBody>
      </p:sp>
      <p:sp>
        <p:nvSpPr>
          <p:cNvPr id="45" name="gateway to destination 3"/>
          <p:cNvSpPr/>
          <p:nvPr/>
        </p:nvSpPr>
        <p:spPr>
          <a:xfrm>
            <a:off x="8503920" y="2926080"/>
            <a:ext cx="685800" cy="1097280"/>
          </a:xfrm>
          <a:prstGeom prst="line">
            <a:avLst/>
          </a:prstGeom>
          <a:noFill/>
          <a:ln w="25400">
            <a:solidFill>
              <a:srgbClr val="1F7A74"/>
            </a:solidFill>
            <a:prstDash val="solid"/>
            <a:tailEnd type="triangle"/>
          </a:ln>
        </p:spPr>
      </p:sp>
      <p:sp>
        <p:nvSpPr>
          <p:cNvPr id="46" name="receipt strip"/>
          <p:cNvSpPr/>
          <p:nvPr/>
        </p:nvSpPr>
        <p:spPr>
          <a:xfrm>
            <a:off x="4206240" y="4617720"/>
            <a:ext cx="7452360" cy="777240"/>
          </a:xfrm>
          <a:prstGeom prst="roundRect">
            <a:avLst>
              <a:gd name="adj" fmla="val 5882"/>
            </a:avLst>
          </a:prstGeom>
          <a:solidFill>
            <a:srgbClr val="EEF4F4"/>
          </a:solidFill>
          <a:ln w="12700">
            <a:solidFill>
              <a:srgbClr val="C9D8D8"/>
            </a:solidFill>
            <a:prstDash val="solid"/>
          </a:ln>
        </p:spPr>
      </p:sp>
      <p:sp>
        <p:nvSpPr>
          <p:cNvPr id="47" name="receipt text"/>
          <p:cNvSpPr txBox="1"/>
          <p:nvPr/>
        </p:nvSpPr>
        <p:spPr>
          <a:xfrm>
            <a:off x="4343400" y="4636008"/>
            <a:ext cx="7223760" cy="731520"/>
          </a:xfrm>
          <a:prstGeom prst="rect">
            <a:avLst/>
          </a:prstGeom>
          <a:noFill/>
          <a:ln/>
        </p:spPr>
        <p:txBody>
          <a:bodyPr wrap="square" lIns="0" tIns="0" rIns="0" bIns="0" rtlCol="0" anchor="ctr"/>
          <a:lstStyle/>
          <a:p>
            <a:pPr indent="0" marL="0">
              <a:buNone/>
            </a:pPr>
            <a:r>
              <a:rPr lang="en-US" sz="1400" b="1" dirty="0">
                <a:solidFill>
                  <a:srgbClr val="0E2F33"/>
                </a:solidFill>
              </a:rPr>
              <a:t>Signed receipt per request: </a:t>
            </a:r>
            <a:pPr indent="0" marL="0">
              <a:buNone/>
            </a:pPr>
            <a:r>
              <a:rPr lang="en-US" sz="1400" dirty="0">
                <a:solidFill>
                  <a:srgbClr val="10272B"/>
                </a:solidFill>
              </a:rPr>
              <a:t>data class, decision, approver, time, payload or hash. Chained, so tampering shows. Verifiable offline.</a:t>
            </a:r>
            <a:endParaRPr lang="en-US" sz="1400" dirty="0"/>
          </a:p>
          <a:p>
            <a:pPr indent="0" marL="0">
              <a:buNone/>
            </a:pPr>
            <a:r>
              <a:rPr lang="en-US" sz="1200" dirty="0">
                <a:solidFill>
                  <a:srgbClr val="52666B"/>
                </a:solidFill>
              </a:rPr>
              <a:t>Same need as ITSG-33 AU-9 and AU-10: audit records that cannot be altered unnoticed, and proof of who did what.</a:t>
            </a:r>
            <a:endParaRPr lang="en-US" sz="1400" dirty="0"/>
          </a:p>
        </p:txBody>
      </p:sp>
      <p:sp>
        <p:nvSpPr>
          <p:cNvPr id="48" name="log only note"/>
          <p:cNvSpPr txBox="1"/>
          <p:nvPr/>
        </p:nvSpPr>
        <p:spPr>
          <a:xfrm>
            <a:off x="548640" y="4617720"/>
            <a:ext cx="3474720" cy="777240"/>
          </a:xfrm>
          <a:prstGeom prst="rect">
            <a:avLst/>
          </a:prstGeom>
          <a:noFill/>
          <a:ln/>
        </p:spPr>
        <p:txBody>
          <a:bodyPr wrap="square" lIns="0" tIns="0" rIns="0" bIns="0" rtlCol="0" anchor="ctr"/>
          <a:lstStyle/>
          <a:p>
            <a:pPr indent="0" marL="0">
              <a:buNone/>
            </a:pPr>
            <a:r>
              <a:rPr lang="en-US" sz="1400" b="1" dirty="0">
                <a:solidFill>
                  <a:srgbClr val="1F7A74"/>
                </a:solidFill>
              </a:rPr>
              <a:t>Start in log-only mode: see what leaves before enforcing anything.</a:t>
            </a:r>
            <a:endParaRPr lang="en-US" sz="1400" dirty="0"/>
          </a:p>
        </p:txBody>
      </p:sp>
      <p:sp>
        <p:nvSpPr>
          <p:cNvPr id="49" name="benefits heading"/>
          <p:cNvSpPr txBox="1"/>
          <p:nvPr/>
        </p:nvSpPr>
        <p:spPr>
          <a:xfrm>
            <a:off x="548640" y="5486400"/>
            <a:ext cx="1828800" cy="274320"/>
          </a:xfrm>
          <a:prstGeom prst="rect">
            <a:avLst/>
          </a:prstGeom>
          <a:noFill/>
          <a:ln/>
        </p:spPr>
        <p:txBody>
          <a:bodyPr wrap="square" lIns="0" tIns="0" rIns="0" bIns="0" rtlCol="0" anchor="t"/>
          <a:lstStyle/>
          <a:p>
            <a:pPr indent="0" marL="0">
              <a:buNone/>
            </a:pPr>
            <a:r>
              <a:rPr lang="en-US" sz="1400" b="1" dirty="0">
                <a:solidFill>
                  <a:srgbClr val="0E2F33"/>
                </a:solidFill>
              </a:rPr>
              <a:t>Benefits</a:t>
            </a:r>
            <a:endParaRPr lang="en-US" sz="1400" dirty="0"/>
          </a:p>
        </p:txBody>
      </p:sp>
      <p:sp>
        <p:nvSpPr>
          <p:cNvPr id="50" name="benefit marker 0"/>
          <p:cNvSpPr/>
          <p:nvPr/>
        </p:nvSpPr>
        <p:spPr>
          <a:xfrm>
            <a:off x="548640" y="5833872"/>
            <a:ext cx="201168" cy="201168"/>
          </a:xfrm>
          <a:prstGeom prst="ellipse">
            <a:avLst/>
          </a:prstGeom>
          <a:solidFill>
            <a:srgbClr val="8794A0"/>
          </a:solidFill>
          <a:ln w="12700">
            <a:solidFill>
              <a:srgbClr val="8794A0"/>
            </a:solidFill>
            <a:prstDash val="solid"/>
          </a:ln>
        </p:spPr>
      </p:sp>
      <p:sp>
        <p:nvSpPr>
          <p:cNvPr id="51" name="benefit 0"/>
          <p:cNvSpPr txBox="1"/>
          <p:nvPr/>
        </p:nvSpPr>
        <p:spPr>
          <a:xfrm>
            <a:off x="841248" y="5760720"/>
            <a:ext cx="2423160" cy="594360"/>
          </a:xfrm>
          <a:prstGeom prst="rect">
            <a:avLst/>
          </a:prstGeom>
          <a:noFill/>
          <a:ln/>
        </p:spPr>
        <p:txBody>
          <a:bodyPr wrap="square" lIns="0" tIns="0" rIns="0" bIns="0" rtlCol="0" anchor="t"/>
          <a:lstStyle/>
          <a:p>
            <a:pPr indent="0" marL="0">
              <a:buNone/>
            </a:pPr>
            <a:r>
              <a:rPr lang="en-US" sz="1400" b="1" dirty="0">
                <a:solidFill>
                  <a:srgbClr val="10272B"/>
                </a:solidFill>
              </a:rPr>
              <a:t>See what leaves</a:t>
            </a:r>
            <a:endParaRPr lang="en-US" sz="1400" dirty="0"/>
          </a:p>
          <a:p>
            <a:pPr indent="0" marL="0">
              <a:buNone/>
            </a:pPr>
            <a:r>
              <a:rPr lang="en-US" sz="1200" dirty="0">
                <a:solidFill>
                  <a:srgbClr val="52666B"/>
                </a:solidFill>
              </a:rPr>
              <a:t>Real evidence of what is sent, before any enforcement</a:t>
            </a:r>
            <a:endParaRPr lang="en-US" sz="1400" dirty="0"/>
          </a:p>
        </p:txBody>
      </p:sp>
      <p:sp>
        <p:nvSpPr>
          <p:cNvPr id="52" name="benefit marker 1"/>
          <p:cNvSpPr/>
          <p:nvPr/>
        </p:nvSpPr>
        <p:spPr>
          <a:xfrm>
            <a:off x="3346704" y="5833872"/>
            <a:ext cx="201168" cy="201168"/>
          </a:xfrm>
          <a:prstGeom prst="ellipse">
            <a:avLst/>
          </a:prstGeom>
          <a:solidFill>
            <a:srgbClr val="2271B3"/>
          </a:solidFill>
          <a:ln w="12700">
            <a:solidFill>
              <a:srgbClr val="2271B3"/>
            </a:solidFill>
            <a:prstDash val="solid"/>
          </a:ln>
        </p:spPr>
      </p:sp>
      <p:sp>
        <p:nvSpPr>
          <p:cNvPr id="53" name="benefit 1"/>
          <p:cNvSpPr txBox="1"/>
          <p:nvPr/>
        </p:nvSpPr>
        <p:spPr>
          <a:xfrm>
            <a:off x="3639312" y="5760720"/>
            <a:ext cx="2423160" cy="594360"/>
          </a:xfrm>
          <a:prstGeom prst="rect">
            <a:avLst/>
          </a:prstGeom>
          <a:noFill/>
          <a:ln/>
        </p:spPr>
        <p:txBody>
          <a:bodyPr wrap="square" lIns="0" tIns="0" rIns="0" bIns="0" rtlCol="0" anchor="t"/>
          <a:lstStyle/>
          <a:p>
            <a:pPr indent="0" marL="0">
              <a:buNone/>
            </a:pPr>
            <a:r>
              <a:rPr lang="en-US" sz="1400" b="1" dirty="0">
                <a:solidFill>
                  <a:srgbClr val="10272B"/>
                </a:solidFill>
              </a:rPr>
              <a:t>Keep the use, stop the leak</a:t>
            </a:r>
            <a:endParaRPr lang="en-US" sz="1400" dirty="0"/>
          </a:p>
          <a:p>
            <a:pPr indent="0" marL="0">
              <a:buNone/>
            </a:pPr>
            <a:r>
              <a:rPr lang="en-US" sz="1200" dirty="0">
                <a:solidFill>
                  <a:srgbClr val="52666B"/>
                </a:solidFill>
              </a:rPr>
              <a:t>Mask and approve instead of ban</a:t>
            </a:r>
            <a:endParaRPr lang="en-US" sz="1400" dirty="0"/>
          </a:p>
        </p:txBody>
      </p:sp>
      <p:sp>
        <p:nvSpPr>
          <p:cNvPr id="54" name="benefit marker 2"/>
          <p:cNvSpPr/>
          <p:nvPr/>
        </p:nvSpPr>
        <p:spPr>
          <a:xfrm>
            <a:off x="6144768" y="5833872"/>
            <a:ext cx="201168" cy="201168"/>
          </a:xfrm>
          <a:prstGeom prst="ellipse">
            <a:avLst/>
          </a:prstGeom>
          <a:solidFill>
            <a:srgbClr val="0D8A7C"/>
          </a:solidFill>
          <a:ln w="12700">
            <a:solidFill>
              <a:srgbClr val="0D8A7C"/>
            </a:solidFill>
            <a:prstDash val="solid"/>
          </a:ln>
        </p:spPr>
      </p:sp>
      <p:sp>
        <p:nvSpPr>
          <p:cNvPr id="55" name="benefit 2"/>
          <p:cNvSpPr txBox="1"/>
          <p:nvPr/>
        </p:nvSpPr>
        <p:spPr>
          <a:xfrm>
            <a:off x="6437376" y="5760720"/>
            <a:ext cx="2423160" cy="594360"/>
          </a:xfrm>
          <a:prstGeom prst="rect">
            <a:avLst/>
          </a:prstGeom>
          <a:noFill/>
          <a:ln/>
        </p:spPr>
        <p:txBody>
          <a:bodyPr wrap="square" lIns="0" tIns="0" rIns="0" bIns="0" rtlCol="0" anchor="t"/>
          <a:lstStyle/>
          <a:p>
            <a:pPr indent="0" marL="0">
              <a:buNone/>
            </a:pPr>
            <a:r>
              <a:rPr lang="en-US" sz="1400" b="1" dirty="0">
                <a:solidFill>
                  <a:srgbClr val="10272B"/>
                </a:solidFill>
              </a:rPr>
              <a:t>Proof an auditor can check</a:t>
            </a:r>
            <a:endParaRPr lang="en-US" sz="1400" dirty="0"/>
          </a:p>
          <a:p>
            <a:pPr indent="0" marL="0">
              <a:buNone/>
            </a:pPr>
            <a:r>
              <a:rPr lang="en-US" sz="1200" dirty="0">
                <a:solidFill>
                  <a:srgbClr val="52666B"/>
                </a:solidFill>
              </a:rPr>
              <a:t>Verify the receipt chain offline</a:t>
            </a:r>
            <a:endParaRPr lang="en-US" sz="1400" dirty="0"/>
          </a:p>
        </p:txBody>
      </p:sp>
      <p:sp>
        <p:nvSpPr>
          <p:cNvPr id="56" name="benefit marker 3"/>
          <p:cNvSpPr/>
          <p:nvPr/>
        </p:nvSpPr>
        <p:spPr>
          <a:xfrm>
            <a:off x="8942832" y="5833872"/>
            <a:ext cx="201168" cy="201168"/>
          </a:xfrm>
          <a:prstGeom prst="ellipse">
            <a:avLst/>
          </a:prstGeom>
          <a:solidFill>
            <a:srgbClr val="6C3FA3"/>
          </a:solidFill>
          <a:ln w="12700">
            <a:solidFill>
              <a:srgbClr val="6C3FA3"/>
            </a:solidFill>
            <a:prstDash val="solid"/>
          </a:ln>
        </p:spPr>
      </p:sp>
      <p:sp>
        <p:nvSpPr>
          <p:cNvPr id="57" name="benefit 3"/>
          <p:cNvSpPr txBox="1"/>
          <p:nvPr/>
        </p:nvSpPr>
        <p:spPr>
          <a:xfrm>
            <a:off x="9235440" y="5760720"/>
            <a:ext cx="2423160" cy="594360"/>
          </a:xfrm>
          <a:prstGeom prst="rect">
            <a:avLst/>
          </a:prstGeom>
          <a:noFill/>
          <a:ln/>
        </p:spPr>
        <p:txBody>
          <a:bodyPr wrap="square" lIns="0" tIns="0" rIns="0" bIns="0" rtlCol="0" anchor="t"/>
          <a:lstStyle/>
          <a:p>
            <a:pPr indent="0" marL="0">
              <a:buNone/>
            </a:pPr>
            <a:r>
              <a:rPr lang="en-US" sz="1400" b="1" dirty="0">
                <a:solidFill>
                  <a:srgbClr val="10272B"/>
                </a:solidFill>
              </a:rPr>
              <a:t>Any model, same controls</a:t>
            </a:r>
            <a:endParaRPr lang="en-US" sz="1400" dirty="0"/>
          </a:p>
          <a:p>
            <a:pPr indent="0" marL="0">
              <a:buNone/>
            </a:pPr>
            <a:r>
              <a:rPr lang="en-US" sz="1200" dirty="0">
                <a:solidFill>
                  <a:srgbClr val="52666B"/>
                </a:solidFill>
              </a:rPr>
              <a:t>Hosted, Canadian region or self-hosted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66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t"/>
          <a:lstStyle/>
          <a:p>
            <a:pPr algn="l" indent="0" marL="0">
              <a:buNone/>
            </a:pPr>
            <a:r>
              <a:rPr lang="en-US" sz="3200" b="1" dirty="0">
                <a:solidFill>
                  <a:srgbClr val="0E2F33"/>
                </a:solidFill>
              </a:rPr>
              <a:t>How a request flows, with a human in the loop</a:t>
            </a:r>
            <a:endParaRPr lang="en-US" sz="3200" dirty="0"/>
          </a:p>
        </p:txBody>
      </p:sp>
      <p:sp>
        <p:nvSpPr>
          <p:cNvPr id="3" name="flow step 1"/>
          <p:cNvSpPr/>
          <p:nvPr/>
        </p:nvSpPr>
        <p:spPr>
          <a:xfrm>
            <a:off x="548640" y="1325880"/>
            <a:ext cx="1435608" cy="1691640"/>
          </a:xfrm>
          <a:prstGeom prst="roundRect">
            <a:avLst>
              <a:gd name="adj" fmla="val 3822"/>
            </a:avLst>
          </a:prstGeom>
          <a:solidFill>
            <a:srgbClr val="EEF4F4"/>
          </a:solidFill>
          <a:ln w="12700">
            <a:solidFill>
              <a:srgbClr val="C9D8D8"/>
            </a:solidFill>
            <a:prstDash val="solid"/>
          </a:ln>
        </p:spPr>
      </p:sp>
      <p:sp>
        <p:nvSpPr>
          <p:cNvPr id="4" name="flow badge 1"/>
          <p:cNvSpPr/>
          <p:nvPr/>
        </p:nvSpPr>
        <p:spPr>
          <a:xfrm>
            <a:off x="658368" y="1435608"/>
            <a:ext cx="274320" cy="274320"/>
          </a:xfrm>
          <a:prstGeom prst="ellipse">
            <a:avLst/>
          </a:prstGeom>
          <a:solidFill>
            <a:srgbClr val="1F7A74"/>
          </a:solidFill>
          <a:ln w="12700">
            <a:solidFill>
              <a:srgbClr val="FFFFFF"/>
            </a:solidFill>
            <a:prstDash val="solid"/>
          </a:ln>
        </p:spPr>
      </p:sp>
      <p:sp>
        <p:nvSpPr>
          <p:cNvPr id="5" name="flow number 1"/>
          <p:cNvSpPr txBox="1"/>
          <p:nvPr/>
        </p:nvSpPr>
        <p:spPr>
          <a:xfrm>
            <a:off x="658368" y="14356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flow title 1"/>
          <p:cNvSpPr txBox="1"/>
          <p:nvPr/>
        </p:nvSpPr>
        <p:spPr>
          <a:xfrm>
            <a:off x="658368" y="1783080"/>
            <a:ext cx="1252728" cy="292608"/>
          </a:xfrm>
          <a:prstGeom prst="rect">
            <a:avLst/>
          </a:prstGeom>
          <a:noFill/>
          <a:ln/>
        </p:spPr>
        <p:txBody>
          <a:bodyPr wrap="square" lIns="0" tIns="0" rIns="0" bIns="0" rtlCol="0" anchor="t"/>
          <a:lstStyle/>
          <a:p>
            <a:pPr indent="0" marL="0">
              <a:buNone/>
            </a:pPr>
            <a:r>
              <a:rPr lang="en-US" sz="1400" b="1" dirty="0">
                <a:solidFill>
                  <a:srgbClr val="0E2F33"/>
                </a:solidFill>
              </a:rPr>
              <a:t>Ask</a:t>
            </a:r>
            <a:endParaRPr lang="en-US" sz="1400" dirty="0"/>
          </a:p>
        </p:txBody>
      </p:sp>
      <p:sp>
        <p:nvSpPr>
          <p:cNvPr id="7" name="flow desc 1"/>
          <p:cNvSpPr txBox="1"/>
          <p:nvPr/>
        </p:nvSpPr>
        <p:spPr>
          <a:xfrm>
            <a:off x="658368" y="2103120"/>
            <a:ext cx="1252728" cy="868680"/>
          </a:xfrm>
          <a:prstGeom prst="rect">
            <a:avLst/>
          </a:prstGeom>
          <a:noFill/>
          <a:ln/>
        </p:spPr>
        <p:txBody>
          <a:bodyPr wrap="square" lIns="0" tIns="0" rIns="0" bIns="0" rtlCol="0" anchor="t"/>
          <a:lstStyle/>
          <a:p>
            <a:pPr indent="0" marL="0">
              <a:buNone/>
            </a:pPr>
            <a:r>
              <a:rPr lang="en-US" sz="1200" dirty="0">
                <a:solidFill>
                  <a:srgbClr val="10272B"/>
                </a:solidFill>
              </a:rPr>
              <a:t>Question plus code, view and schema slices</a:t>
            </a:r>
            <a:endParaRPr lang="en-US" sz="1200" dirty="0"/>
          </a:p>
        </p:txBody>
      </p:sp>
      <p:sp>
        <p:nvSpPr>
          <p:cNvPr id="8" name="flow arrow 1"/>
          <p:cNvSpPr/>
          <p:nvPr/>
        </p:nvSpPr>
        <p:spPr>
          <a:xfrm>
            <a:off x="1984248" y="2167128"/>
            <a:ext cx="169164" cy="0"/>
          </a:xfrm>
          <a:prstGeom prst="line">
            <a:avLst/>
          </a:prstGeom>
          <a:noFill/>
          <a:ln w="25400">
            <a:solidFill>
              <a:srgbClr val="1F7A74"/>
            </a:solidFill>
            <a:prstDash val="solid"/>
            <a:tailEnd type="triangle"/>
          </a:ln>
        </p:spPr>
      </p:sp>
      <p:sp>
        <p:nvSpPr>
          <p:cNvPr id="9" name="flow step 2"/>
          <p:cNvSpPr/>
          <p:nvPr/>
        </p:nvSpPr>
        <p:spPr>
          <a:xfrm>
            <a:off x="2153412" y="1325880"/>
            <a:ext cx="1435608" cy="1691640"/>
          </a:xfrm>
          <a:prstGeom prst="roundRect">
            <a:avLst>
              <a:gd name="adj" fmla="val 3822"/>
            </a:avLst>
          </a:prstGeom>
          <a:solidFill>
            <a:srgbClr val="EEF4F4"/>
          </a:solidFill>
          <a:ln w="12700">
            <a:solidFill>
              <a:srgbClr val="C9D8D8"/>
            </a:solidFill>
            <a:prstDash val="solid"/>
          </a:ln>
        </p:spPr>
      </p:sp>
      <p:sp>
        <p:nvSpPr>
          <p:cNvPr id="10" name="flow badge 2"/>
          <p:cNvSpPr/>
          <p:nvPr/>
        </p:nvSpPr>
        <p:spPr>
          <a:xfrm>
            <a:off x="2263140" y="1435608"/>
            <a:ext cx="274320" cy="274320"/>
          </a:xfrm>
          <a:prstGeom prst="ellipse">
            <a:avLst/>
          </a:prstGeom>
          <a:solidFill>
            <a:srgbClr val="1F7A74"/>
          </a:solidFill>
          <a:ln w="12700">
            <a:solidFill>
              <a:srgbClr val="FFFFFF"/>
            </a:solidFill>
            <a:prstDash val="solid"/>
          </a:ln>
        </p:spPr>
      </p:sp>
      <p:sp>
        <p:nvSpPr>
          <p:cNvPr id="11" name="flow number 2"/>
          <p:cNvSpPr txBox="1"/>
          <p:nvPr/>
        </p:nvSpPr>
        <p:spPr>
          <a:xfrm>
            <a:off x="2263140" y="14356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flow title 2"/>
          <p:cNvSpPr txBox="1"/>
          <p:nvPr/>
        </p:nvSpPr>
        <p:spPr>
          <a:xfrm>
            <a:off x="2263140" y="1783080"/>
            <a:ext cx="1252728" cy="292608"/>
          </a:xfrm>
          <a:prstGeom prst="rect">
            <a:avLst/>
          </a:prstGeom>
          <a:noFill/>
          <a:ln/>
        </p:spPr>
        <p:txBody>
          <a:bodyPr wrap="square" lIns="0" tIns="0" rIns="0" bIns="0" rtlCol="0" anchor="t"/>
          <a:lstStyle/>
          <a:p>
            <a:pPr indent="0" marL="0">
              <a:buNone/>
            </a:pPr>
            <a:r>
              <a:rPr lang="en-US" sz="1400" b="1" dirty="0">
                <a:solidFill>
                  <a:srgbClr val="0E2F33"/>
                </a:solidFill>
              </a:rPr>
              <a:t>Classify</a:t>
            </a:r>
            <a:endParaRPr lang="en-US" sz="1400" dirty="0"/>
          </a:p>
        </p:txBody>
      </p:sp>
      <p:sp>
        <p:nvSpPr>
          <p:cNvPr id="13" name="flow desc 2"/>
          <p:cNvSpPr txBox="1"/>
          <p:nvPr/>
        </p:nvSpPr>
        <p:spPr>
          <a:xfrm>
            <a:off x="2263140" y="2103120"/>
            <a:ext cx="1252728" cy="868680"/>
          </a:xfrm>
          <a:prstGeom prst="rect">
            <a:avLst/>
          </a:prstGeom>
          <a:noFill/>
          <a:ln/>
        </p:spPr>
        <p:txBody>
          <a:bodyPr wrap="square" lIns="0" tIns="0" rIns="0" bIns="0" rtlCol="0" anchor="t"/>
          <a:lstStyle/>
          <a:p>
            <a:pPr indent="0" marL="0">
              <a:buNone/>
            </a:pPr>
            <a:r>
              <a:rPr lang="en-US" sz="1200" dirty="0">
                <a:solidFill>
                  <a:srgbClr val="10272B"/>
                </a:solidFill>
              </a:rPr>
              <a:t>Data class C0 to C3 for every slice</a:t>
            </a:r>
            <a:endParaRPr lang="en-US" sz="1200" dirty="0"/>
          </a:p>
        </p:txBody>
      </p:sp>
      <p:sp>
        <p:nvSpPr>
          <p:cNvPr id="14" name="flow arrow 2"/>
          <p:cNvSpPr/>
          <p:nvPr/>
        </p:nvSpPr>
        <p:spPr>
          <a:xfrm>
            <a:off x="3589020" y="2167128"/>
            <a:ext cx="169164" cy="0"/>
          </a:xfrm>
          <a:prstGeom prst="line">
            <a:avLst/>
          </a:prstGeom>
          <a:noFill/>
          <a:ln w="25400">
            <a:solidFill>
              <a:srgbClr val="1F7A74"/>
            </a:solidFill>
            <a:prstDash val="solid"/>
            <a:tailEnd type="triangle"/>
          </a:ln>
        </p:spPr>
      </p:sp>
      <p:sp>
        <p:nvSpPr>
          <p:cNvPr id="15" name="flow step 3"/>
          <p:cNvSpPr/>
          <p:nvPr/>
        </p:nvSpPr>
        <p:spPr>
          <a:xfrm>
            <a:off x="3758184" y="1325880"/>
            <a:ext cx="1435608" cy="1691640"/>
          </a:xfrm>
          <a:prstGeom prst="roundRect">
            <a:avLst>
              <a:gd name="adj" fmla="val 3822"/>
            </a:avLst>
          </a:prstGeom>
          <a:solidFill>
            <a:srgbClr val="EEF4F4"/>
          </a:solidFill>
          <a:ln w="12700">
            <a:solidFill>
              <a:srgbClr val="C9D8D8"/>
            </a:solidFill>
            <a:prstDash val="solid"/>
          </a:ln>
        </p:spPr>
      </p:sp>
      <p:sp>
        <p:nvSpPr>
          <p:cNvPr id="16" name="flow badge 3"/>
          <p:cNvSpPr/>
          <p:nvPr/>
        </p:nvSpPr>
        <p:spPr>
          <a:xfrm>
            <a:off x="3867912" y="1435608"/>
            <a:ext cx="274320" cy="274320"/>
          </a:xfrm>
          <a:prstGeom prst="ellipse">
            <a:avLst/>
          </a:prstGeom>
          <a:solidFill>
            <a:srgbClr val="1F7A74"/>
          </a:solidFill>
          <a:ln w="12700">
            <a:solidFill>
              <a:srgbClr val="FFFFFF"/>
            </a:solidFill>
            <a:prstDash val="solid"/>
          </a:ln>
        </p:spPr>
      </p:sp>
      <p:sp>
        <p:nvSpPr>
          <p:cNvPr id="17" name="flow number 3"/>
          <p:cNvSpPr txBox="1"/>
          <p:nvPr/>
        </p:nvSpPr>
        <p:spPr>
          <a:xfrm>
            <a:off x="3867912" y="14356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flow title 3"/>
          <p:cNvSpPr txBox="1"/>
          <p:nvPr/>
        </p:nvSpPr>
        <p:spPr>
          <a:xfrm>
            <a:off x="3867912" y="1783080"/>
            <a:ext cx="1252728" cy="292608"/>
          </a:xfrm>
          <a:prstGeom prst="rect">
            <a:avLst/>
          </a:prstGeom>
          <a:noFill/>
          <a:ln/>
        </p:spPr>
        <p:txBody>
          <a:bodyPr wrap="square" lIns="0" tIns="0" rIns="0" bIns="0" rtlCol="0" anchor="t"/>
          <a:lstStyle/>
          <a:p>
            <a:pPr indent="0" marL="0">
              <a:buNone/>
            </a:pPr>
            <a:r>
              <a:rPr lang="en-US" sz="1400" b="1" dirty="0">
                <a:solidFill>
                  <a:srgbClr val="0E2F33"/>
                </a:solidFill>
              </a:rPr>
              <a:t>Policy</a:t>
            </a:r>
            <a:endParaRPr lang="en-US" sz="1400" dirty="0"/>
          </a:p>
        </p:txBody>
      </p:sp>
      <p:sp>
        <p:nvSpPr>
          <p:cNvPr id="19" name="flow desc 3"/>
          <p:cNvSpPr txBox="1"/>
          <p:nvPr/>
        </p:nvSpPr>
        <p:spPr>
          <a:xfrm>
            <a:off x="3867912" y="2103120"/>
            <a:ext cx="1252728" cy="868680"/>
          </a:xfrm>
          <a:prstGeom prst="rect">
            <a:avLst/>
          </a:prstGeom>
          <a:noFill/>
          <a:ln/>
        </p:spPr>
        <p:txBody>
          <a:bodyPr wrap="square" lIns="0" tIns="0" rIns="0" bIns="0" rtlCol="0" anchor="t"/>
          <a:lstStyle/>
          <a:p>
            <a:pPr indent="0" marL="0">
              <a:buNone/>
            </a:pPr>
            <a:r>
              <a:rPr lang="en-US" sz="1200" dirty="0">
                <a:solidFill>
                  <a:srgbClr val="10272B"/>
                </a:solidFill>
              </a:rPr>
              <a:t>30 rules: allow, mask, reduce, drop or approve</a:t>
            </a:r>
            <a:endParaRPr lang="en-US" sz="1200" dirty="0"/>
          </a:p>
        </p:txBody>
      </p:sp>
      <p:sp>
        <p:nvSpPr>
          <p:cNvPr id="20" name="flow arrow 3"/>
          <p:cNvSpPr/>
          <p:nvPr/>
        </p:nvSpPr>
        <p:spPr>
          <a:xfrm>
            <a:off x="5193792" y="2167128"/>
            <a:ext cx="169164" cy="0"/>
          </a:xfrm>
          <a:prstGeom prst="line">
            <a:avLst/>
          </a:prstGeom>
          <a:noFill/>
          <a:ln w="25400">
            <a:solidFill>
              <a:srgbClr val="1F7A74"/>
            </a:solidFill>
            <a:prstDash val="solid"/>
            <a:tailEnd type="triangle"/>
          </a:ln>
        </p:spPr>
      </p:sp>
      <p:sp>
        <p:nvSpPr>
          <p:cNvPr id="21" name="flow step 4"/>
          <p:cNvSpPr/>
          <p:nvPr/>
        </p:nvSpPr>
        <p:spPr>
          <a:xfrm>
            <a:off x="5362956" y="1325880"/>
            <a:ext cx="1435608" cy="1691640"/>
          </a:xfrm>
          <a:prstGeom prst="roundRect">
            <a:avLst>
              <a:gd name="adj" fmla="val 3822"/>
            </a:avLst>
          </a:prstGeom>
          <a:solidFill>
            <a:srgbClr val="EEF4F4"/>
          </a:solidFill>
          <a:ln w="12700">
            <a:solidFill>
              <a:srgbClr val="C9D8D8"/>
            </a:solidFill>
            <a:prstDash val="solid"/>
          </a:ln>
        </p:spPr>
      </p:sp>
      <p:sp>
        <p:nvSpPr>
          <p:cNvPr id="22" name="flow badge 4"/>
          <p:cNvSpPr/>
          <p:nvPr/>
        </p:nvSpPr>
        <p:spPr>
          <a:xfrm>
            <a:off x="5472684" y="1435608"/>
            <a:ext cx="274320" cy="274320"/>
          </a:xfrm>
          <a:prstGeom prst="ellipse">
            <a:avLst/>
          </a:prstGeom>
          <a:solidFill>
            <a:srgbClr val="1F7A74"/>
          </a:solidFill>
          <a:ln w="12700">
            <a:solidFill>
              <a:srgbClr val="FFFFFF"/>
            </a:solidFill>
            <a:prstDash val="solid"/>
          </a:ln>
        </p:spPr>
      </p:sp>
      <p:sp>
        <p:nvSpPr>
          <p:cNvPr id="23" name="flow number 4"/>
          <p:cNvSpPr txBox="1"/>
          <p:nvPr/>
        </p:nvSpPr>
        <p:spPr>
          <a:xfrm>
            <a:off x="5472684" y="14356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4" name="flow title 4"/>
          <p:cNvSpPr txBox="1"/>
          <p:nvPr/>
        </p:nvSpPr>
        <p:spPr>
          <a:xfrm>
            <a:off x="5472684" y="1783080"/>
            <a:ext cx="1252728" cy="292608"/>
          </a:xfrm>
          <a:prstGeom prst="rect">
            <a:avLst/>
          </a:prstGeom>
          <a:noFill/>
          <a:ln/>
        </p:spPr>
        <p:txBody>
          <a:bodyPr wrap="square" lIns="0" tIns="0" rIns="0" bIns="0" rtlCol="0" anchor="t"/>
          <a:lstStyle/>
          <a:p>
            <a:pPr indent="0" marL="0">
              <a:buNone/>
            </a:pPr>
            <a:r>
              <a:rPr lang="en-US" sz="1400" b="1" dirty="0">
                <a:solidFill>
                  <a:srgbClr val="0E2F33"/>
                </a:solidFill>
              </a:rPr>
              <a:t>Transform</a:t>
            </a:r>
            <a:endParaRPr lang="en-US" sz="1400" dirty="0"/>
          </a:p>
        </p:txBody>
      </p:sp>
      <p:sp>
        <p:nvSpPr>
          <p:cNvPr id="25" name="flow desc 4"/>
          <p:cNvSpPr txBox="1"/>
          <p:nvPr/>
        </p:nvSpPr>
        <p:spPr>
          <a:xfrm>
            <a:off x="5472684" y="2103120"/>
            <a:ext cx="1252728" cy="868680"/>
          </a:xfrm>
          <a:prstGeom prst="rect">
            <a:avLst/>
          </a:prstGeom>
          <a:noFill/>
          <a:ln/>
        </p:spPr>
        <p:txBody>
          <a:bodyPr wrap="square" lIns="0" tIns="0" rIns="0" bIns="0" rtlCol="0" anchor="t"/>
          <a:lstStyle/>
          <a:p>
            <a:pPr indent="0" marL="0">
              <a:buNone/>
            </a:pPr>
            <a:r>
              <a:rPr lang="en-US" sz="1200" dirty="0">
                <a:solidFill>
                  <a:srgbClr val="10272B"/>
                </a:solidFill>
              </a:rPr>
              <a:t>Secrets and personal data become tokens</a:t>
            </a:r>
            <a:endParaRPr lang="en-US" sz="1200" dirty="0"/>
          </a:p>
        </p:txBody>
      </p:sp>
      <p:sp>
        <p:nvSpPr>
          <p:cNvPr id="26" name="flow arrow 4"/>
          <p:cNvSpPr/>
          <p:nvPr/>
        </p:nvSpPr>
        <p:spPr>
          <a:xfrm>
            <a:off x="6798564" y="2167128"/>
            <a:ext cx="169164" cy="0"/>
          </a:xfrm>
          <a:prstGeom prst="line">
            <a:avLst/>
          </a:prstGeom>
          <a:noFill/>
          <a:ln w="25400">
            <a:solidFill>
              <a:srgbClr val="1F7A74"/>
            </a:solidFill>
            <a:prstDash val="solid"/>
            <a:tailEnd type="triangle"/>
          </a:ln>
        </p:spPr>
      </p:sp>
      <p:sp>
        <p:nvSpPr>
          <p:cNvPr id="27" name="flow step 5"/>
          <p:cNvSpPr/>
          <p:nvPr/>
        </p:nvSpPr>
        <p:spPr>
          <a:xfrm>
            <a:off x="6967728" y="1325880"/>
            <a:ext cx="1435608" cy="1691640"/>
          </a:xfrm>
          <a:prstGeom prst="roundRect">
            <a:avLst>
              <a:gd name="adj" fmla="val 3822"/>
            </a:avLst>
          </a:prstGeom>
          <a:solidFill>
            <a:srgbClr val="FDF1DC"/>
          </a:solidFill>
          <a:ln w="19050">
            <a:solidFill>
              <a:srgbClr val="E39B2D"/>
            </a:solidFill>
            <a:prstDash val="solid"/>
          </a:ln>
        </p:spPr>
      </p:sp>
      <p:sp>
        <p:nvSpPr>
          <p:cNvPr id="28" name="flow badge 5"/>
          <p:cNvSpPr/>
          <p:nvPr/>
        </p:nvSpPr>
        <p:spPr>
          <a:xfrm>
            <a:off x="7077456" y="1435608"/>
            <a:ext cx="274320" cy="274320"/>
          </a:xfrm>
          <a:prstGeom prst="ellipse">
            <a:avLst/>
          </a:prstGeom>
          <a:solidFill>
            <a:srgbClr val="E39B2D"/>
          </a:solidFill>
          <a:ln w="12700">
            <a:solidFill>
              <a:srgbClr val="FFFFFF"/>
            </a:solidFill>
            <a:prstDash val="solid"/>
          </a:ln>
        </p:spPr>
      </p:sp>
      <p:sp>
        <p:nvSpPr>
          <p:cNvPr id="29" name="flow number 5"/>
          <p:cNvSpPr txBox="1"/>
          <p:nvPr/>
        </p:nvSpPr>
        <p:spPr>
          <a:xfrm>
            <a:off x="7077456" y="1435608"/>
            <a:ext cx="274320" cy="274320"/>
          </a:xfrm>
          <a:prstGeom prst="rect">
            <a:avLst/>
          </a:prstGeom>
          <a:noFill/>
          <a:ln/>
        </p:spPr>
        <p:txBody>
          <a:bodyPr wrap="square" lIns="0" tIns="0" rIns="0" bIns="0" rtlCol="0" anchor="ctr"/>
          <a:lstStyle/>
          <a:p>
            <a:pPr algn="ctr" indent="0" marL="0">
              <a:buNone/>
            </a:pPr>
            <a:r>
              <a:rPr lang="en-US" sz="1200" b="1" dirty="0">
                <a:solidFill>
                  <a:srgbClr val="10272B"/>
                </a:solidFill>
              </a:rPr>
              <a:t>5</a:t>
            </a:r>
            <a:endParaRPr lang="en-US" sz="1200" dirty="0"/>
          </a:p>
        </p:txBody>
      </p:sp>
      <p:sp>
        <p:nvSpPr>
          <p:cNvPr id="30" name="flow title 5"/>
          <p:cNvSpPr txBox="1"/>
          <p:nvPr/>
        </p:nvSpPr>
        <p:spPr>
          <a:xfrm>
            <a:off x="7077456" y="1783080"/>
            <a:ext cx="1252728" cy="292608"/>
          </a:xfrm>
          <a:prstGeom prst="rect">
            <a:avLst/>
          </a:prstGeom>
          <a:noFill/>
          <a:ln/>
        </p:spPr>
        <p:txBody>
          <a:bodyPr wrap="square" lIns="0" tIns="0" rIns="0" bIns="0" rtlCol="0" anchor="t"/>
          <a:lstStyle/>
          <a:p>
            <a:pPr indent="0" marL="0">
              <a:buNone/>
            </a:pPr>
            <a:r>
              <a:rPr lang="en-US" sz="1400" b="1" dirty="0">
                <a:solidFill>
                  <a:srgbClr val="0E2F33"/>
                </a:solidFill>
              </a:rPr>
              <a:t>Approve</a:t>
            </a:r>
            <a:endParaRPr lang="en-US" sz="1400" dirty="0"/>
          </a:p>
        </p:txBody>
      </p:sp>
      <p:sp>
        <p:nvSpPr>
          <p:cNvPr id="31" name="flow desc 5"/>
          <p:cNvSpPr txBox="1"/>
          <p:nvPr/>
        </p:nvSpPr>
        <p:spPr>
          <a:xfrm>
            <a:off x="7077456" y="2103120"/>
            <a:ext cx="1252728" cy="868680"/>
          </a:xfrm>
          <a:prstGeom prst="rect">
            <a:avLst/>
          </a:prstGeom>
          <a:noFill/>
          <a:ln/>
        </p:spPr>
        <p:txBody>
          <a:bodyPr wrap="square" lIns="0" tIns="0" rIns="0" bIns="0" rtlCol="0" anchor="t"/>
          <a:lstStyle/>
          <a:p>
            <a:pPr indent="0" marL="0">
              <a:buNone/>
            </a:pPr>
            <a:r>
              <a:rPr lang="en-US" sz="1200" dirty="0">
                <a:solidFill>
                  <a:srgbClr val="10272B"/>
                </a:solidFill>
              </a:rPr>
              <a:t>Human in the loop: 0, 1 or 2 people. Owner or director if secrets</a:t>
            </a:r>
            <a:endParaRPr lang="en-US" sz="1200" dirty="0"/>
          </a:p>
        </p:txBody>
      </p:sp>
      <p:sp>
        <p:nvSpPr>
          <p:cNvPr id="32" name="flow arrow 5"/>
          <p:cNvSpPr/>
          <p:nvPr/>
        </p:nvSpPr>
        <p:spPr>
          <a:xfrm>
            <a:off x="8403336" y="2167128"/>
            <a:ext cx="169164" cy="0"/>
          </a:xfrm>
          <a:prstGeom prst="line">
            <a:avLst/>
          </a:prstGeom>
          <a:noFill/>
          <a:ln w="25400">
            <a:solidFill>
              <a:srgbClr val="1F7A74"/>
            </a:solidFill>
            <a:prstDash val="solid"/>
            <a:tailEnd type="triangle"/>
          </a:ln>
        </p:spPr>
      </p:sp>
      <p:sp>
        <p:nvSpPr>
          <p:cNvPr id="33" name="flow step 6"/>
          <p:cNvSpPr/>
          <p:nvPr/>
        </p:nvSpPr>
        <p:spPr>
          <a:xfrm>
            <a:off x="8572500" y="1325880"/>
            <a:ext cx="1435608" cy="1691640"/>
          </a:xfrm>
          <a:prstGeom prst="roundRect">
            <a:avLst>
              <a:gd name="adj" fmla="val 3822"/>
            </a:avLst>
          </a:prstGeom>
          <a:solidFill>
            <a:srgbClr val="EEF4F4"/>
          </a:solidFill>
          <a:ln w="12700">
            <a:solidFill>
              <a:srgbClr val="C9D8D8"/>
            </a:solidFill>
            <a:prstDash val="solid"/>
          </a:ln>
        </p:spPr>
      </p:sp>
      <p:sp>
        <p:nvSpPr>
          <p:cNvPr id="34" name="flow badge 6"/>
          <p:cNvSpPr/>
          <p:nvPr/>
        </p:nvSpPr>
        <p:spPr>
          <a:xfrm>
            <a:off x="8682228" y="1435608"/>
            <a:ext cx="274320" cy="274320"/>
          </a:xfrm>
          <a:prstGeom prst="ellipse">
            <a:avLst/>
          </a:prstGeom>
          <a:solidFill>
            <a:srgbClr val="1F7A74"/>
          </a:solidFill>
          <a:ln w="12700">
            <a:solidFill>
              <a:srgbClr val="FFFFFF"/>
            </a:solidFill>
            <a:prstDash val="solid"/>
          </a:ln>
        </p:spPr>
      </p:sp>
      <p:sp>
        <p:nvSpPr>
          <p:cNvPr id="35" name="flow number 6"/>
          <p:cNvSpPr txBox="1"/>
          <p:nvPr/>
        </p:nvSpPr>
        <p:spPr>
          <a:xfrm>
            <a:off x="8682228" y="14356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6" name="flow title 6"/>
          <p:cNvSpPr txBox="1"/>
          <p:nvPr/>
        </p:nvSpPr>
        <p:spPr>
          <a:xfrm>
            <a:off x="8682228" y="1783080"/>
            <a:ext cx="1252728" cy="292608"/>
          </a:xfrm>
          <a:prstGeom prst="rect">
            <a:avLst/>
          </a:prstGeom>
          <a:noFill/>
          <a:ln/>
        </p:spPr>
        <p:txBody>
          <a:bodyPr wrap="square" lIns="0" tIns="0" rIns="0" bIns="0" rtlCol="0" anchor="t"/>
          <a:lstStyle/>
          <a:p>
            <a:pPr indent="0" marL="0">
              <a:buNone/>
            </a:pPr>
            <a:r>
              <a:rPr lang="en-US" sz="1400" b="1" dirty="0">
                <a:solidFill>
                  <a:srgbClr val="0E2F33"/>
                </a:solidFill>
              </a:rPr>
              <a:t>Release</a:t>
            </a:r>
            <a:endParaRPr lang="en-US" sz="1400" dirty="0"/>
          </a:p>
        </p:txBody>
      </p:sp>
      <p:sp>
        <p:nvSpPr>
          <p:cNvPr id="37" name="flow desc 6"/>
          <p:cNvSpPr txBox="1"/>
          <p:nvPr/>
        </p:nvSpPr>
        <p:spPr>
          <a:xfrm>
            <a:off x="8682228" y="2103120"/>
            <a:ext cx="1252728" cy="868680"/>
          </a:xfrm>
          <a:prstGeom prst="rect">
            <a:avLst/>
          </a:prstGeom>
          <a:noFill/>
          <a:ln/>
        </p:spPr>
        <p:txBody>
          <a:bodyPr wrap="square" lIns="0" tIns="0" rIns="0" bIns="0" rtlCol="0" anchor="t"/>
          <a:lstStyle/>
          <a:p>
            <a:pPr indent="0" marL="0">
              <a:buNone/>
            </a:pPr>
            <a:r>
              <a:rPr lang="en-US" sz="1200" dirty="0">
                <a:solidFill>
                  <a:srgbClr val="10272B"/>
                </a:solidFill>
              </a:rPr>
              <a:t>Sent only if the payload hash is unchanged</a:t>
            </a:r>
            <a:endParaRPr lang="en-US" sz="1200" dirty="0"/>
          </a:p>
        </p:txBody>
      </p:sp>
      <p:sp>
        <p:nvSpPr>
          <p:cNvPr id="38" name="flow arrow 6"/>
          <p:cNvSpPr/>
          <p:nvPr/>
        </p:nvSpPr>
        <p:spPr>
          <a:xfrm>
            <a:off x="10008108" y="2167128"/>
            <a:ext cx="169164" cy="0"/>
          </a:xfrm>
          <a:prstGeom prst="line">
            <a:avLst/>
          </a:prstGeom>
          <a:noFill/>
          <a:ln w="25400">
            <a:solidFill>
              <a:srgbClr val="1F7A74"/>
            </a:solidFill>
            <a:prstDash val="solid"/>
            <a:tailEnd type="triangle"/>
          </a:ln>
        </p:spPr>
      </p:sp>
      <p:sp>
        <p:nvSpPr>
          <p:cNvPr id="39" name="flow step 7"/>
          <p:cNvSpPr/>
          <p:nvPr/>
        </p:nvSpPr>
        <p:spPr>
          <a:xfrm>
            <a:off x="10177272" y="1325880"/>
            <a:ext cx="1435608" cy="1691640"/>
          </a:xfrm>
          <a:prstGeom prst="roundRect">
            <a:avLst>
              <a:gd name="adj" fmla="val 3822"/>
            </a:avLst>
          </a:prstGeom>
          <a:solidFill>
            <a:srgbClr val="0E2F33"/>
          </a:solidFill>
          <a:ln w="12700">
            <a:solidFill>
              <a:srgbClr val="0E2F33"/>
            </a:solidFill>
            <a:prstDash val="solid"/>
          </a:ln>
        </p:spPr>
      </p:sp>
      <p:sp>
        <p:nvSpPr>
          <p:cNvPr id="40" name="flow badge 7"/>
          <p:cNvSpPr/>
          <p:nvPr/>
        </p:nvSpPr>
        <p:spPr>
          <a:xfrm>
            <a:off x="10287000" y="1435608"/>
            <a:ext cx="274320" cy="274320"/>
          </a:xfrm>
          <a:prstGeom prst="ellipse">
            <a:avLst/>
          </a:prstGeom>
          <a:solidFill>
            <a:srgbClr val="FFFFFF"/>
          </a:solidFill>
          <a:ln w="12700">
            <a:solidFill>
              <a:srgbClr val="FFFFFF"/>
            </a:solidFill>
            <a:prstDash val="solid"/>
          </a:ln>
        </p:spPr>
      </p:sp>
      <p:sp>
        <p:nvSpPr>
          <p:cNvPr id="41" name="flow number 7"/>
          <p:cNvSpPr txBox="1"/>
          <p:nvPr/>
        </p:nvSpPr>
        <p:spPr>
          <a:xfrm>
            <a:off x="10287000" y="1435608"/>
            <a:ext cx="274320" cy="274320"/>
          </a:xfrm>
          <a:prstGeom prst="rect">
            <a:avLst/>
          </a:prstGeom>
          <a:noFill/>
          <a:ln/>
        </p:spPr>
        <p:txBody>
          <a:bodyPr wrap="square" lIns="0" tIns="0" rIns="0" bIns="0" rtlCol="0" anchor="ctr"/>
          <a:lstStyle/>
          <a:p>
            <a:pPr algn="ctr" indent="0" marL="0">
              <a:buNone/>
            </a:pPr>
            <a:r>
              <a:rPr lang="en-US" sz="1200" b="1" dirty="0">
                <a:solidFill>
                  <a:srgbClr val="0E2F33"/>
                </a:solidFill>
              </a:rPr>
              <a:t>7</a:t>
            </a:r>
            <a:endParaRPr lang="en-US" sz="1200" dirty="0"/>
          </a:p>
        </p:txBody>
      </p:sp>
      <p:sp>
        <p:nvSpPr>
          <p:cNvPr id="42" name="flow title 7"/>
          <p:cNvSpPr txBox="1"/>
          <p:nvPr/>
        </p:nvSpPr>
        <p:spPr>
          <a:xfrm>
            <a:off x="10287000" y="1783080"/>
            <a:ext cx="1252728" cy="292608"/>
          </a:xfrm>
          <a:prstGeom prst="rect">
            <a:avLst/>
          </a:prstGeom>
          <a:noFill/>
          <a:ln/>
        </p:spPr>
        <p:txBody>
          <a:bodyPr wrap="square" lIns="0" tIns="0" rIns="0" bIns="0" rtlCol="0" anchor="t"/>
          <a:lstStyle/>
          <a:p>
            <a:pPr indent="0" marL="0">
              <a:buNone/>
            </a:pPr>
            <a:r>
              <a:rPr lang="en-US" sz="1400" b="1" dirty="0">
                <a:solidFill>
                  <a:srgbClr val="FFFFFF"/>
                </a:solidFill>
              </a:rPr>
              <a:t>Answer</a:t>
            </a:r>
            <a:endParaRPr lang="en-US" sz="1400" dirty="0"/>
          </a:p>
        </p:txBody>
      </p:sp>
      <p:sp>
        <p:nvSpPr>
          <p:cNvPr id="43" name="flow desc 7"/>
          <p:cNvSpPr txBox="1"/>
          <p:nvPr/>
        </p:nvSpPr>
        <p:spPr>
          <a:xfrm>
            <a:off x="10287000" y="2103120"/>
            <a:ext cx="1252728" cy="868680"/>
          </a:xfrm>
          <a:prstGeom prst="rect">
            <a:avLst/>
          </a:prstGeom>
          <a:noFill/>
          <a:ln/>
        </p:spPr>
        <p:txBody>
          <a:bodyPr wrap="square" lIns="0" tIns="0" rIns="0" bIns="0" rtlCol="0" anchor="t"/>
          <a:lstStyle/>
          <a:p>
            <a:pPr indent="0" marL="0">
              <a:buNone/>
            </a:pPr>
            <a:r>
              <a:rPr lang="en-US" sz="1200" dirty="0">
                <a:solidFill>
                  <a:srgbClr val="BFD8D6"/>
                </a:solidFill>
              </a:rPr>
              <a:t>Values restored locally. Signed receipt</a:t>
            </a:r>
            <a:endParaRPr lang="en-US" sz="1200" dirty="0"/>
          </a:p>
        </p:txBody>
      </p:sp>
      <p:sp>
        <p:nvSpPr>
          <p:cNvPr id="44" name="classify dot 0"/>
          <p:cNvSpPr/>
          <p:nvPr/>
        </p:nvSpPr>
        <p:spPr>
          <a:xfrm>
            <a:off x="2263140" y="2816352"/>
            <a:ext cx="118872" cy="118872"/>
          </a:xfrm>
          <a:prstGeom prst="ellipse">
            <a:avLst/>
          </a:prstGeom>
          <a:solidFill>
            <a:srgbClr val="8794A0"/>
          </a:solidFill>
          <a:ln w="12700">
            <a:solidFill>
              <a:srgbClr val="8794A0"/>
            </a:solidFill>
            <a:prstDash val="solid"/>
          </a:ln>
        </p:spPr>
      </p:sp>
      <p:sp>
        <p:nvSpPr>
          <p:cNvPr id="45" name="classify dot 1"/>
          <p:cNvSpPr/>
          <p:nvPr/>
        </p:nvSpPr>
        <p:spPr>
          <a:xfrm>
            <a:off x="2436876" y="2816352"/>
            <a:ext cx="118872" cy="118872"/>
          </a:xfrm>
          <a:prstGeom prst="ellipse">
            <a:avLst/>
          </a:prstGeom>
          <a:solidFill>
            <a:srgbClr val="2271B3"/>
          </a:solidFill>
          <a:ln w="12700">
            <a:solidFill>
              <a:srgbClr val="2271B3"/>
            </a:solidFill>
            <a:prstDash val="solid"/>
          </a:ln>
        </p:spPr>
      </p:sp>
      <p:sp>
        <p:nvSpPr>
          <p:cNvPr id="46" name="classify dot 2"/>
          <p:cNvSpPr/>
          <p:nvPr/>
        </p:nvSpPr>
        <p:spPr>
          <a:xfrm>
            <a:off x="2610612" y="2816352"/>
            <a:ext cx="118872" cy="118872"/>
          </a:xfrm>
          <a:prstGeom prst="ellipse">
            <a:avLst/>
          </a:prstGeom>
          <a:solidFill>
            <a:srgbClr val="0D8A7C"/>
          </a:solidFill>
          <a:ln w="12700">
            <a:solidFill>
              <a:srgbClr val="0D8A7C"/>
            </a:solidFill>
            <a:prstDash val="solid"/>
          </a:ln>
        </p:spPr>
      </p:sp>
      <p:sp>
        <p:nvSpPr>
          <p:cNvPr id="47" name="classify dot 3"/>
          <p:cNvSpPr/>
          <p:nvPr/>
        </p:nvSpPr>
        <p:spPr>
          <a:xfrm>
            <a:off x="2784348" y="2816352"/>
            <a:ext cx="118872" cy="118872"/>
          </a:xfrm>
          <a:prstGeom prst="ellipse">
            <a:avLst/>
          </a:prstGeom>
          <a:solidFill>
            <a:srgbClr val="6C3FA3"/>
          </a:solidFill>
          <a:ln w="12700">
            <a:solidFill>
              <a:srgbClr val="6C3FA3"/>
            </a:solidFill>
            <a:prstDash val="solid"/>
          </a:ln>
        </p:spPr>
      </p:sp>
      <p:sp>
        <p:nvSpPr>
          <p:cNvPr id="48" name="outcomes heading"/>
          <p:cNvSpPr txBox="1"/>
          <p:nvPr/>
        </p:nvSpPr>
        <p:spPr>
          <a:xfrm>
            <a:off x="548640" y="3291840"/>
            <a:ext cx="7772400" cy="320040"/>
          </a:xfrm>
          <a:prstGeom prst="rect">
            <a:avLst/>
          </a:prstGeom>
          <a:noFill/>
          <a:ln/>
        </p:spPr>
        <p:txBody>
          <a:bodyPr wrap="square" lIns="0" tIns="0" rIns="0" bIns="0" rtlCol="0" anchor="t"/>
          <a:lstStyle/>
          <a:p>
            <a:pPr indent="0" marL="0">
              <a:buNone/>
            </a:pPr>
            <a:r>
              <a:rPr lang="en-US" sz="1800" b="1" dirty="0">
                <a:solidFill>
                  <a:srgbClr val="0E2F33"/>
                </a:solidFill>
              </a:rPr>
              <a:t>What it did with three of our test questions</a:t>
            </a:r>
            <a:endParaRPr lang="en-US" sz="1800" dirty="0"/>
          </a:p>
        </p:txBody>
      </p:sp>
      <p:graphicFrame>
        <p:nvGraphicFramePr>
          <p:cNvPr id="5" name="outcomes table"/>
          <p:cNvGraphicFramePr>
            <a:graphicFrameLocks noGrp="1"/>
          </p:cNvGraphicFramePr>
          <p:nvPr>
            <p:extLst>
              <p:ext uri="{D42A27DB-BD31-4B8C-83A1-F6EECF244321}">
                <p14:modId xmlns:p14="http://schemas.microsoft.com/office/powerpoint/2010/main" val="1579011935"/>
              </p:ext>
            </p:extLst>
          </p:nvPr>
        </p:nvGraphicFramePr>
        <p:xfrm>
          <a:off x="548640" y="3657600"/>
          <a:ext cx="7772400" cy="914400"/>
        </p:xfrm>
        <a:graphic>
          <a:graphicData uri="http://schemas.openxmlformats.org/drawingml/2006/table">
            <a:tbl>
              <a:tblPr/>
              <a:tblGrid>
                <a:gridCol w="2743200"/>
                <a:gridCol w="5029200"/>
              </a:tblGrid>
              <a:tr h="868680">
                <a:tc>
                  <a:txBody>
                    <a:bodyPr/>
                    <a:lstStyle/>
                    <a:p>
                      <a:pPr indent="0" marL="0">
                        <a:buNone/>
                      </a:pPr>
                      <a:r>
                        <a:rPr lang="en-US" sz="1400" b="1" dirty="0">
                          <a:solidFill>
                            <a:srgbClr val="0E2F33"/>
                          </a:solidFill>
                        </a:rPr>
                        <a:t>Explain CES design</a:t>
                      </a:r>
                      <a:endParaRPr lang="en-US" sz="1400" dirty="0"/>
                    </a:p>
                  </a:txBody>
                  <a:tcPr marL="91440" marR="91440" marT="73152" marB="73152"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c>
                  <a:txBody>
                    <a:bodyPr/>
                    <a:lstStyle/>
                    <a:p>
                      <a:pPr indent="0" marL="0">
                        <a:buNone/>
                      </a:pPr>
                      <a:r>
                        <a:rPr lang="en-US" sz="1400" dirty="0">
                          <a:solidFill>
                            <a:srgbClr val="10272B"/>
                          </a:solidFill>
                        </a:rPr>
                        <a:t>Allowed. Labour-rate and cost logic cut to signatures automatically. No approval.</a:t>
                      </a:r>
                      <a:endParaRPr lang="en-US" sz="1400" dirty="0"/>
                    </a:p>
                  </a:txBody>
                  <a:tcPr marL="91440" marR="91440" marT="73152" marB="73152"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r>
              <a:tr h="868680">
                <a:tc>
                  <a:txBody>
                    <a:bodyPr/>
                    <a:lstStyle/>
                    <a:p>
                      <a:pPr indent="0" marL="0">
                        <a:buNone/>
                      </a:pPr>
                      <a:r>
                        <a:rPr lang="en-US" sz="1400" b="1" dirty="0">
                          <a:solidFill>
                            <a:srgbClr val="0E2F33"/>
                          </a:solidFill>
                        </a:rPr>
                        <a:t>Add SharePoint upload; tenant IDs and secret pasted</a:t>
                      </a:r>
                      <a:endParaRPr lang="en-US" sz="1400" dirty="0"/>
                    </a:p>
                  </a:txBody>
                  <a:tcPr marL="91440" marR="91440" marT="73152" marB="73152"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c>
                  <a:txBody>
                    <a:bodyPr/>
                    <a:lstStyle/>
                    <a:p>
                      <a:pPr indent="0" marL="0">
                        <a:buNone/>
                      </a:pPr>
                      <a:r>
                        <a:rPr lang="en-US" sz="1400" dirty="0">
                          <a:solidFill>
                            <a:srgbClr val="10272B"/>
                          </a:solidFill>
                        </a:rPr>
                        <a:t>4 values masked. 2 approvals, one from the application owner or a director.</a:t>
                      </a:r>
                      <a:endParaRPr lang="en-US" sz="1400" dirty="0"/>
                    </a:p>
                  </a:txBody>
                  <a:tcPr marL="91440" marR="91440" marT="73152" marB="73152"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r>
              <a:tr h="685800">
                <a:tc>
                  <a:txBody>
                    <a:bodyPr/>
                    <a:lstStyle/>
                    <a:p>
                      <a:pPr indent="0" marL="0">
                        <a:buNone/>
                      </a:pPr>
                      <a:r>
                        <a:rPr lang="en-US" sz="1400" b="1" dirty="0">
                          <a:solidFill>
                            <a:srgbClr val="0E2F33"/>
                          </a:solidFill>
                        </a:rPr>
                        <a:t>Why does the salary grid fail to save?</a:t>
                      </a:r>
                      <a:endParaRPr lang="en-US" sz="1400" dirty="0"/>
                    </a:p>
                  </a:txBody>
                  <a:tcPr marL="91440" marR="91440" marT="73152" marB="73152"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c>
                  <a:txBody>
                    <a:bodyPr/>
                    <a:lstStyle/>
                    <a:p>
                      <a:pPr indent="0" marL="0">
                        <a:buNone/>
                      </a:pPr>
                      <a:r>
                        <a:rPr lang="en-US" sz="1400" dirty="0">
                          <a:solidFill>
                            <a:srgbClr val="10272B"/>
                          </a:solidFill>
                        </a:rPr>
                        <a:t>Labour-rate logic: 1 approval, or send signatures only.</a:t>
                      </a:r>
                      <a:endParaRPr lang="en-US" sz="1400" dirty="0"/>
                    </a:p>
                  </a:txBody>
                  <a:tcPr marL="91440" marR="91440" marT="73152" marB="73152" anchor="ctr">
                    <a:lnL w="9525" cap="flat" cmpd="sng" algn="ctr">
                      <a:solidFill>
                        <a:srgbClr val="C9D8D8"/>
                      </a:solidFill>
                      <a:prstDash val="solid"/>
                      <a:round/>
                      <a:headEnd type="none" w="med" len="med"/>
                      <a:tailEnd type="none" w="med" len="med"/>
                    </a:lnL>
                    <a:lnR w="9525" cap="flat" cmpd="sng" algn="ctr">
                      <a:solidFill>
                        <a:srgbClr val="C9D8D8"/>
                      </a:solidFill>
                      <a:prstDash val="solid"/>
                      <a:round/>
                      <a:headEnd type="none" w="med" len="med"/>
                      <a:tailEnd type="none" w="med" len="med"/>
                    </a:lnR>
                    <a:lnT w="9525" cap="flat" cmpd="sng" algn="ctr">
                      <a:solidFill>
                        <a:srgbClr val="C9D8D8"/>
                      </a:solidFill>
                      <a:prstDash val="solid"/>
                      <a:round/>
                      <a:headEnd type="none" w="med" len="med"/>
                      <a:tailEnd type="none" w="med" len="med"/>
                    </a:lnT>
                    <a:lnB w="9525" cap="flat" cmpd="sng" algn="ctr">
                      <a:solidFill>
                        <a:srgbClr val="C9D8D8"/>
                      </a:solidFill>
                      <a:prstDash val="solid"/>
                      <a:round/>
                      <a:headEnd type="none" w="med" len="med"/>
                      <a:tailEnd type="none" w="med" len="med"/>
                    </a:lnB>
                  </a:tcPr>
                </a:tc>
              </a:tr>
            </a:tbl>
          </a:graphicData>
        </a:graphic>
      </p:graphicFrame>
      <p:sp>
        <p:nvSpPr>
          <p:cNvPr id="50" name="synthetic note"/>
          <p:cNvSpPr txBox="1"/>
          <p:nvPr/>
        </p:nvSpPr>
        <p:spPr>
          <a:xfrm>
            <a:off x="548640" y="6126480"/>
            <a:ext cx="7772400" cy="228600"/>
          </a:xfrm>
          <a:prstGeom prst="rect">
            <a:avLst/>
          </a:prstGeom>
          <a:noFill/>
          <a:ln/>
        </p:spPr>
        <p:txBody>
          <a:bodyPr wrap="square" lIns="0" tIns="0" rIns="0" bIns="0" rtlCol="0" anchor="t"/>
          <a:lstStyle/>
          <a:p>
            <a:pPr indent="0" marL="0">
              <a:buNone/>
            </a:pPr>
            <a:r>
              <a:rPr lang="en-US" sz="1000" dirty="0">
                <a:solidFill>
                  <a:srgbClr val="52666B"/>
                </a:solidFill>
              </a:rPr>
              <a:t>Test data and policies are synthetic. Credentials shown are fake.</a:t>
            </a:r>
            <a:endParaRPr lang="en-US" sz="1000" dirty="0"/>
          </a:p>
        </p:txBody>
      </p:sp>
      <p:sp>
        <p:nvSpPr>
          <p:cNvPr id="51" name="screenshot heading"/>
          <p:cNvSpPr txBox="1"/>
          <p:nvPr/>
        </p:nvSpPr>
        <p:spPr>
          <a:xfrm>
            <a:off x="8641080" y="3291840"/>
            <a:ext cx="3017520" cy="320040"/>
          </a:xfrm>
          <a:prstGeom prst="rect">
            <a:avLst/>
          </a:prstGeom>
          <a:noFill/>
          <a:ln/>
        </p:spPr>
        <p:txBody>
          <a:bodyPr wrap="square" lIns="0" tIns="0" rIns="0" bIns="0" rtlCol="0" anchor="t"/>
          <a:lstStyle/>
          <a:p>
            <a:pPr indent="0" marL="0">
              <a:buNone/>
            </a:pPr>
            <a:r>
              <a:rPr lang="en-US" sz="1800" b="1" dirty="0">
                <a:solidFill>
                  <a:srgbClr val="0E2F33"/>
                </a:solidFill>
              </a:rPr>
              <a:t>The approver’s screen</a:t>
            </a:r>
            <a:endParaRPr lang="en-US" sz="1800" dirty="0"/>
          </a:p>
        </p:txBody>
      </p:sp>
      <p:pic>
        <p:nvPicPr>
          <p:cNvPr id="52" name="POC approval screen" descr="Screenshot of the POC showing why approval is required and one of two approvals recorded">    </p:cNvPr>
          <p:cNvPicPr>
            <a:picLocks noChangeAspect="1"/>
          </p:cNvPicPr>
          <p:nvPr/>
        </p:nvPicPr>
        <p:blipFill>
          <a:blip r:embed="rId1"/>
          <a:stretch>
            <a:fillRect/>
          </a:stretch>
        </p:blipFill>
        <p:spPr>
          <a:xfrm>
            <a:off x="8641080" y="3657600"/>
            <a:ext cx="3017520" cy="2688336"/>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66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t"/>
          <a:lstStyle/>
          <a:p>
            <a:pPr algn="l" indent="0" marL="0">
              <a:buNone/>
            </a:pPr>
            <a:r>
              <a:rPr lang="en-US" sz="3200" b="1" dirty="0">
                <a:solidFill>
                  <a:srgbClr val="0E2F33"/>
                </a:solidFill>
              </a:rPr>
              <a:t>Approve a 12-week proof of concept on real code and TTC infrastructure</a:t>
            </a:r>
            <a:endParaRPr lang="en-US" sz="3200" dirty="0"/>
          </a:p>
        </p:txBody>
      </p:sp>
      <p:sp>
        <p:nvSpPr>
          <p:cNvPr id="3" name="phase bar 1"/>
          <p:cNvSpPr/>
          <p:nvPr/>
        </p:nvSpPr>
        <p:spPr>
          <a:xfrm>
            <a:off x="548640" y="1783080"/>
            <a:ext cx="1066800" cy="457200"/>
          </a:xfrm>
          <a:prstGeom prst="roundRect">
            <a:avLst>
              <a:gd name="adj" fmla="val 10000"/>
            </a:avLst>
          </a:prstGeom>
          <a:solidFill>
            <a:srgbClr val="2271B3"/>
          </a:solidFill>
          <a:ln w="12700">
            <a:solidFill>
              <a:srgbClr val="2271B3"/>
            </a:solidFill>
            <a:prstDash val="solid"/>
          </a:ln>
        </p:spPr>
      </p:sp>
      <p:sp>
        <p:nvSpPr>
          <p:cNvPr id="4" name="phase weeks 1"/>
          <p:cNvSpPr txBox="1"/>
          <p:nvPr/>
        </p:nvSpPr>
        <p:spPr>
          <a:xfrm>
            <a:off x="548640" y="1783080"/>
            <a:ext cx="1066800" cy="457200"/>
          </a:xfrm>
          <a:prstGeom prst="rect">
            <a:avLst/>
          </a:prstGeom>
          <a:noFill/>
          <a:ln/>
        </p:spPr>
        <p:txBody>
          <a:bodyPr wrap="square" lIns="0" tIns="0" rIns="0" bIns="0" rtlCol="0" anchor="ctr"/>
          <a:lstStyle/>
          <a:p>
            <a:pPr algn="ctr" indent="0" marL="0">
              <a:buNone/>
            </a:pPr>
            <a:r>
              <a:rPr lang="en-US" sz="1200" b="1" dirty="0">
                <a:solidFill>
                  <a:srgbClr val="FFFFFF"/>
                </a:solidFill>
              </a:rPr>
              <a:t>Weeks 1 to 2</a:t>
            </a:r>
            <a:endParaRPr lang="en-US" sz="1200" dirty="0"/>
          </a:p>
        </p:txBody>
      </p:sp>
      <p:sp>
        <p:nvSpPr>
          <p:cNvPr id="5" name="phase marker 1"/>
          <p:cNvSpPr/>
          <p:nvPr/>
        </p:nvSpPr>
        <p:spPr>
          <a:xfrm>
            <a:off x="548640" y="2496312"/>
            <a:ext cx="182880" cy="182880"/>
          </a:xfrm>
          <a:prstGeom prst="ellipse">
            <a:avLst/>
          </a:prstGeom>
          <a:solidFill>
            <a:srgbClr val="2271B3"/>
          </a:solidFill>
          <a:ln w="12700">
            <a:solidFill>
              <a:srgbClr val="2271B3"/>
            </a:solidFill>
            <a:prstDash val="solid"/>
          </a:ln>
        </p:spPr>
      </p:sp>
      <p:sp>
        <p:nvSpPr>
          <p:cNvPr id="6" name="phase text 1"/>
          <p:cNvSpPr txBox="1"/>
          <p:nvPr/>
        </p:nvSpPr>
        <p:spPr>
          <a:xfrm>
            <a:off x="868680" y="2423160"/>
            <a:ext cx="6400800" cy="685800"/>
          </a:xfrm>
          <a:prstGeom prst="rect">
            <a:avLst/>
          </a:prstGeom>
          <a:noFill/>
          <a:ln/>
        </p:spPr>
        <p:txBody>
          <a:bodyPr wrap="square" lIns="0" tIns="0" rIns="0" bIns="0" rtlCol="0" anchor="t"/>
          <a:lstStyle/>
          <a:p>
            <a:pPr indent="0" marL="0">
              <a:buNone/>
            </a:pPr>
            <a:r>
              <a:rPr lang="en-US" sz="1400" b="1" dirty="0">
                <a:solidFill>
                  <a:srgbClr val="0E2F33"/>
                </a:solidFill>
              </a:rPr>
              <a:t>Set up  </a:t>
            </a:r>
            <a:pPr indent="0" marL="0">
              <a:buNone/>
            </a:pPr>
            <a:r>
              <a:rPr lang="en-US" sz="1400" dirty="0">
                <a:solidFill>
                  <a:srgbClr val="52666B"/>
                </a:solidFill>
              </a:rPr>
              <a:t>Install the gateway on TTC infrastructure. Set the egress rule at the firewall so direct provider access is closed.</a:t>
            </a:r>
            <a:endParaRPr lang="en-US" sz="1400" dirty="0"/>
          </a:p>
        </p:txBody>
      </p:sp>
      <p:sp>
        <p:nvSpPr>
          <p:cNvPr id="7" name="phase bar 2"/>
          <p:cNvSpPr/>
          <p:nvPr/>
        </p:nvSpPr>
        <p:spPr>
          <a:xfrm>
            <a:off x="1661160" y="1783080"/>
            <a:ext cx="2179320" cy="457200"/>
          </a:xfrm>
          <a:prstGeom prst="roundRect">
            <a:avLst>
              <a:gd name="adj" fmla="val 10000"/>
            </a:avLst>
          </a:prstGeom>
          <a:solidFill>
            <a:srgbClr val="0D8A7C"/>
          </a:solidFill>
          <a:ln w="12700">
            <a:solidFill>
              <a:srgbClr val="0D8A7C"/>
            </a:solidFill>
            <a:prstDash val="solid"/>
          </a:ln>
        </p:spPr>
      </p:sp>
      <p:sp>
        <p:nvSpPr>
          <p:cNvPr id="8" name="phase weeks 2"/>
          <p:cNvSpPr txBox="1"/>
          <p:nvPr/>
        </p:nvSpPr>
        <p:spPr>
          <a:xfrm>
            <a:off x="1661160" y="1783080"/>
            <a:ext cx="2179320" cy="457200"/>
          </a:xfrm>
          <a:prstGeom prst="rect">
            <a:avLst/>
          </a:prstGeom>
          <a:noFill/>
          <a:ln/>
        </p:spPr>
        <p:txBody>
          <a:bodyPr wrap="square" lIns="0" tIns="0" rIns="0" bIns="0" rtlCol="0" anchor="ctr"/>
          <a:lstStyle/>
          <a:p>
            <a:pPr algn="ctr" indent="0" marL="0">
              <a:buNone/>
            </a:pPr>
            <a:r>
              <a:rPr lang="en-US" sz="1200" b="1" dirty="0">
                <a:solidFill>
                  <a:srgbClr val="FFFFFF"/>
                </a:solidFill>
              </a:rPr>
              <a:t>Weeks 3 to 6</a:t>
            </a:r>
            <a:endParaRPr lang="en-US" sz="1200" dirty="0"/>
          </a:p>
        </p:txBody>
      </p:sp>
      <p:sp>
        <p:nvSpPr>
          <p:cNvPr id="9" name="phase marker 2"/>
          <p:cNvSpPr/>
          <p:nvPr/>
        </p:nvSpPr>
        <p:spPr>
          <a:xfrm>
            <a:off x="548640" y="3246120"/>
            <a:ext cx="182880" cy="182880"/>
          </a:xfrm>
          <a:prstGeom prst="ellipse">
            <a:avLst/>
          </a:prstGeom>
          <a:solidFill>
            <a:srgbClr val="0D8A7C"/>
          </a:solidFill>
          <a:ln w="12700">
            <a:solidFill>
              <a:srgbClr val="0D8A7C"/>
            </a:solidFill>
            <a:prstDash val="solid"/>
          </a:ln>
        </p:spPr>
      </p:sp>
      <p:sp>
        <p:nvSpPr>
          <p:cNvPr id="10" name="phase text 2"/>
          <p:cNvSpPr txBox="1"/>
          <p:nvPr/>
        </p:nvSpPr>
        <p:spPr>
          <a:xfrm>
            <a:off x="868680" y="3172968"/>
            <a:ext cx="6400800" cy="685800"/>
          </a:xfrm>
          <a:prstGeom prst="rect">
            <a:avLst/>
          </a:prstGeom>
          <a:noFill/>
          <a:ln/>
        </p:spPr>
        <p:txBody>
          <a:bodyPr wrap="square" lIns="0" tIns="0" rIns="0" bIns="0" rtlCol="0" anchor="t"/>
          <a:lstStyle/>
          <a:p>
            <a:pPr indent="0" marL="0">
              <a:buNone/>
            </a:pPr>
            <a:r>
              <a:rPr lang="en-US" sz="1400" b="1" dirty="0">
                <a:solidFill>
                  <a:srgbClr val="0E2F33"/>
                </a:solidFill>
              </a:rPr>
              <a:t>Log-only baseline  </a:t>
            </a:r>
            <a:pPr indent="0" marL="0">
              <a:buNone/>
            </a:pPr>
            <a:r>
              <a:rPr lang="en-US" sz="1400" dirty="0">
                <a:solidFill>
                  <a:srgbClr val="52666B"/>
                </a:solidFill>
              </a:rPr>
              <a:t>Route every call, enforce nothing, and report what actually leaves.</a:t>
            </a:r>
            <a:endParaRPr lang="en-US" sz="1400" dirty="0"/>
          </a:p>
        </p:txBody>
      </p:sp>
      <p:sp>
        <p:nvSpPr>
          <p:cNvPr id="11" name="phase bar 3"/>
          <p:cNvSpPr/>
          <p:nvPr/>
        </p:nvSpPr>
        <p:spPr>
          <a:xfrm>
            <a:off x="3886200" y="1783080"/>
            <a:ext cx="2179320" cy="457200"/>
          </a:xfrm>
          <a:prstGeom prst="roundRect">
            <a:avLst>
              <a:gd name="adj" fmla="val 10000"/>
            </a:avLst>
          </a:prstGeom>
          <a:solidFill>
            <a:srgbClr val="E39B2D"/>
          </a:solidFill>
          <a:ln w="12700">
            <a:solidFill>
              <a:srgbClr val="E39B2D"/>
            </a:solidFill>
            <a:prstDash val="solid"/>
          </a:ln>
        </p:spPr>
      </p:sp>
      <p:sp>
        <p:nvSpPr>
          <p:cNvPr id="12" name="phase weeks 3"/>
          <p:cNvSpPr txBox="1"/>
          <p:nvPr/>
        </p:nvSpPr>
        <p:spPr>
          <a:xfrm>
            <a:off x="3886200" y="1783080"/>
            <a:ext cx="2179320" cy="457200"/>
          </a:xfrm>
          <a:prstGeom prst="rect">
            <a:avLst/>
          </a:prstGeom>
          <a:noFill/>
          <a:ln/>
        </p:spPr>
        <p:txBody>
          <a:bodyPr wrap="square" lIns="0" tIns="0" rIns="0" bIns="0" rtlCol="0" anchor="ctr"/>
          <a:lstStyle/>
          <a:p>
            <a:pPr algn="ctr" indent="0" marL="0">
              <a:buNone/>
            </a:pPr>
            <a:r>
              <a:rPr lang="en-US" sz="1200" b="1" dirty="0">
                <a:solidFill>
                  <a:srgbClr val="10272B"/>
                </a:solidFill>
              </a:rPr>
              <a:t>Weeks 7 to 10</a:t>
            </a:r>
            <a:endParaRPr lang="en-US" sz="1200" dirty="0"/>
          </a:p>
        </p:txBody>
      </p:sp>
      <p:sp>
        <p:nvSpPr>
          <p:cNvPr id="13" name="phase marker 3"/>
          <p:cNvSpPr/>
          <p:nvPr/>
        </p:nvSpPr>
        <p:spPr>
          <a:xfrm>
            <a:off x="548640" y="3995928"/>
            <a:ext cx="182880" cy="182880"/>
          </a:xfrm>
          <a:prstGeom prst="ellipse">
            <a:avLst/>
          </a:prstGeom>
          <a:solidFill>
            <a:srgbClr val="E39B2D"/>
          </a:solidFill>
          <a:ln w="12700">
            <a:solidFill>
              <a:srgbClr val="E39B2D"/>
            </a:solidFill>
            <a:prstDash val="solid"/>
          </a:ln>
        </p:spPr>
      </p:sp>
      <p:sp>
        <p:nvSpPr>
          <p:cNvPr id="14" name="phase text 3"/>
          <p:cNvSpPr txBox="1"/>
          <p:nvPr/>
        </p:nvSpPr>
        <p:spPr>
          <a:xfrm>
            <a:off x="868680" y="3922776"/>
            <a:ext cx="6400800" cy="685800"/>
          </a:xfrm>
          <a:prstGeom prst="rect">
            <a:avLst/>
          </a:prstGeom>
          <a:noFill/>
          <a:ln/>
        </p:spPr>
        <p:txBody>
          <a:bodyPr wrap="square" lIns="0" tIns="0" rIns="0" bIns="0" rtlCol="0" anchor="t"/>
          <a:lstStyle/>
          <a:p>
            <a:pPr indent="0" marL="0">
              <a:buNone/>
            </a:pPr>
            <a:r>
              <a:rPr lang="en-US" sz="1400" b="1" dirty="0">
                <a:solidFill>
                  <a:srgbClr val="0E2F33"/>
                </a:solidFill>
              </a:rPr>
              <a:t>Enforce and compare  </a:t>
            </a:r>
            <a:pPr indent="0" marL="0">
              <a:buNone/>
            </a:pPr>
            <a:r>
              <a:rPr lang="en-US" sz="1400" dirty="0">
                <a:solidFill>
                  <a:srgbClr val="52666B"/>
                </a:solidFill>
              </a:rPr>
              <a:t>Policy, masking, human-in-the-loop approval. Compare hosted, Canadian-region and self-hosted models.</a:t>
            </a:r>
            <a:endParaRPr lang="en-US" sz="1400" dirty="0"/>
          </a:p>
        </p:txBody>
      </p:sp>
      <p:sp>
        <p:nvSpPr>
          <p:cNvPr id="15" name="phase bar 4"/>
          <p:cNvSpPr/>
          <p:nvPr/>
        </p:nvSpPr>
        <p:spPr>
          <a:xfrm>
            <a:off x="6111240" y="1783080"/>
            <a:ext cx="1066800" cy="457200"/>
          </a:xfrm>
          <a:prstGeom prst="roundRect">
            <a:avLst>
              <a:gd name="adj" fmla="val 10000"/>
            </a:avLst>
          </a:prstGeom>
          <a:solidFill>
            <a:srgbClr val="6C3FA3"/>
          </a:solidFill>
          <a:ln w="12700">
            <a:solidFill>
              <a:srgbClr val="6C3FA3"/>
            </a:solidFill>
            <a:prstDash val="solid"/>
          </a:ln>
        </p:spPr>
      </p:sp>
      <p:sp>
        <p:nvSpPr>
          <p:cNvPr id="16" name="phase weeks 4"/>
          <p:cNvSpPr txBox="1"/>
          <p:nvPr/>
        </p:nvSpPr>
        <p:spPr>
          <a:xfrm>
            <a:off x="6111240" y="1783080"/>
            <a:ext cx="1066800" cy="457200"/>
          </a:xfrm>
          <a:prstGeom prst="rect">
            <a:avLst/>
          </a:prstGeom>
          <a:noFill/>
          <a:ln/>
        </p:spPr>
        <p:txBody>
          <a:bodyPr wrap="square" lIns="0" tIns="0" rIns="0" bIns="0" rtlCol="0" anchor="ctr"/>
          <a:lstStyle/>
          <a:p>
            <a:pPr algn="ctr" indent="0" marL="0">
              <a:buNone/>
            </a:pPr>
            <a:r>
              <a:rPr lang="en-US" sz="1200" b="1" dirty="0">
                <a:solidFill>
                  <a:srgbClr val="FFFFFF"/>
                </a:solidFill>
              </a:rPr>
              <a:t>Weeks 11 to 12</a:t>
            </a:r>
            <a:endParaRPr lang="en-US" sz="1200" dirty="0"/>
          </a:p>
        </p:txBody>
      </p:sp>
      <p:sp>
        <p:nvSpPr>
          <p:cNvPr id="17" name="phase marker 4"/>
          <p:cNvSpPr/>
          <p:nvPr/>
        </p:nvSpPr>
        <p:spPr>
          <a:xfrm>
            <a:off x="548640" y="4745736"/>
            <a:ext cx="182880" cy="182880"/>
          </a:xfrm>
          <a:prstGeom prst="ellipse">
            <a:avLst/>
          </a:prstGeom>
          <a:solidFill>
            <a:srgbClr val="6C3FA3"/>
          </a:solidFill>
          <a:ln w="12700">
            <a:solidFill>
              <a:srgbClr val="6C3FA3"/>
            </a:solidFill>
            <a:prstDash val="solid"/>
          </a:ln>
        </p:spPr>
      </p:sp>
      <p:sp>
        <p:nvSpPr>
          <p:cNvPr id="18" name="phase text 4"/>
          <p:cNvSpPr txBox="1"/>
          <p:nvPr/>
        </p:nvSpPr>
        <p:spPr>
          <a:xfrm>
            <a:off x="868680" y="4672584"/>
            <a:ext cx="6400800" cy="685800"/>
          </a:xfrm>
          <a:prstGeom prst="rect">
            <a:avLst/>
          </a:prstGeom>
          <a:noFill/>
          <a:ln/>
        </p:spPr>
        <p:txBody>
          <a:bodyPr wrap="square" lIns="0" tIns="0" rIns="0" bIns="0" rtlCol="0" anchor="t"/>
          <a:lstStyle/>
          <a:p>
            <a:pPr indent="0" marL="0">
              <a:buNone/>
            </a:pPr>
            <a:r>
              <a:rPr lang="en-US" sz="1400" b="1" dirty="0">
                <a:solidFill>
                  <a:srgbClr val="0E2F33"/>
                </a:solidFill>
              </a:rPr>
              <a:t>Report  </a:t>
            </a:r>
            <a:pPr indent="0" marL="0">
              <a:buNone/>
            </a:pPr>
            <a:r>
              <a:rPr lang="en-US" sz="1400" dirty="0">
                <a:solidFill>
                  <a:srgbClr val="52666B"/>
                </a:solidFill>
              </a:rPr>
              <a:t>Evidence pack and go or no-go recommendation.</a:t>
            </a:r>
            <a:endParaRPr lang="en-US" sz="1400" dirty="0"/>
          </a:p>
        </p:txBody>
      </p:sp>
      <p:sp>
        <p:nvSpPr>
          <p:cNvPr id="19" name="scope"/>
          <p:cNvSpPr txBox="1"/>
          <p:nvPr/>
        </p:nvSpPr>
        <p:spPr>
          <a:xfrm>
            <a:off x="548640" y="5486400"/>
            <a:ext cx="6720840" cy="731520"/>
          </a:xfrm>
          <a:prstGeom prst="rect">
            <a:avLst/>
          </a:prstGeom>
          <a:noFill/>
          <a:ln/>
        </p:spPr>
        <p:txBody>
          <a:bodyPr wrap="square" lIns="0" tIns="0" rIns="0" bIns="0" rtlCol="0" anchor="t"/>
          <a:lstStyle/>
          <a:p>
            <a:pPr indent="0" marL="0">
              <a:buNone/>
            </a:pPr>
            <a:r>
              <a:rPr lang="en-US" sz="1400" b="1" dirty="0">
                <a:solidFill>
                  <a:srgbClr val="0E2F33"/>
                </a:solidFill>
              </a:rPr>
              <a:t>Scope: </a:t>
            </a:r>
            <a:pPr indent="0" marL="0">
              <a:buNone/>
            </a:pPr>
            <a:r>
              <a:rPr lang="en-US" sz="1400" dirty="0">
                <a:solidFill>
                  <a:srgbClr val="52666B"/>
                </a:solidFill>
              </a:rPr>
              <a:t>AI Buddy for CES on the real code graph, source and schema. Legal and privacy review before any real prompt leaves TTC.</a:t>
            </a:r>
            <a:endParaRPr lang="en-US" sz="1400" dirty="0"/>
          </a:p>
        </p:txBody>
      </p:sp>
      <p:sp>
        <p:nvSpPr>
          <p:cNvPr id="20" name="decisions panel"/>
          <p:cNvSpPr/>
          <p:nvPr/>
        </p:nvSpPr>
        <p:spPr>
          <a:xfrm>
            <a:off x="7589520" y="1783080"/>
            <a:ext cx="4069080" cy="4434840"/>
          </a:xfrm>
          <a:prstGeom prst="roundRect">
            <a:avLst>
              <a:gd name="adj" fmla="val 1573"/>
            </a:avLst>
          </a:prstGeom>
          <a:solidFill>
            <a:srgbClr val="EEF4F4"/>
          </a:solidFill>
          <a:ln w="12700">
            <a:solidFill>
              <a:srgbClr val="C9D8D8"/>
            </a:solidFill>
            <a:prstDash val="solid"/>
          </a:ln>
        </p:spPr>
      </p:sp>
      <p:sp>
        <p:nvSpPr>
          <p:cNvPr id="21" name="decisions heading"/>
          <p:cNvSpPr txBox="1"/>
          <p:nvPr/>
        </p:nvSpPr>
        <p:spPr>
          <a:xfrm>
            <a:off x="7818120" y="1920240"/>
            <a:ext cx="3657600" cy="320040"/>
          </a:xfrm>
          <a:prstGeom prst="rect">
            <a:avLst/>
          </a:prstGeom>
          <a:noFill/>
          <a:ln/>
        </p:spPr>
        <p:txBody>
          <a:bodyPr wrap="square" lIns="0" tIns="0" rIns="0" bIns="0" rtlCol="0" anchor="t"/>
          <a:lstStyle/>
          <a:p>
            <a:pPr indent="0" marL="0">
              <a:buNone/>
            </a:pPr>
            <a:r>
              <a:rPr lang="en-US" sz="1800" b="1" dirty="0">
                <a:solidFill>
                  <a:srgbClr val="0E2F33"/>
                </a:solidFill>
              </a:rPr>
              <a:t>Decisions requested</a:t>
            </a:r>
            <a:endParaRPr lang="en-US" sz="1800" dirty="0"/>
          </a:p>
        </p:txBody>
      </p:sp>
      <p:sp>
        <p:nvSpPr>
          <p:cNvPr id="22" name="decisions list"/>
          <p:cNvSpPr txBox="1"/>
          <p:nvPr/>
        </p:nvSpPr>
        <p:spPr>
          <a:xfrm>
            <a:off x="7818120" y="2331720"/>
            <a:ext cx="3657600" cy="20116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0E2F33"/>
                </a:solidFill>
              </a:rPr>
              <a:t>Approve a time-boxed 12-week POC</a:t>
            </a:r>
            <a:endParaRPr lang="en-US" sz="1400" dirty="0"/>
          </a:p>
          <a:p>
            <a:pPr marL="342900" indent="-342900">
              <a:spcAft>
                <a:spcPts val="500"/>
              </a:spcAft>
              <a:buSzPct val="100000"/>
              <a:buFont typeface="+mj-lt"/>
              <a:buAutoNum type="arabicPeriod" startAt="1"/>
            </a:pPr>
            <a:r>
              <a:rPr lang="en-US" sz="1400" dirty="0">
                <a:solidFill>
                  <a:srgbClr val="0E2F33"/>
                </a:solidFill>
              </a:rPr>
              <a:t>Name a sponsor and a lead architect for weekly checkpoints</a:t>
            </a:r>
            <a:endParaRPr lang="en-US" sz="1400" dirty="0"/>
          </a:p>
          <a:p>
            <a:pPr marL="342900" indent="-342900">
              <a:spcAft>
                <a:spcPts val="500"/>
              </a:spcAft>
              <a:buSzPct val="100000"/>
              <a:buFont typeface="+mj-lt"/>
              <a:buAutoNum type="arabicPeriod" startAt="1"/>
            </a:pPr>
            <a:r>
              <a:rPr lang="en-US" sz="1400" dirty="0">
                <a:solidFill>
                  <a:srgbClr val="0E2F33"/>
                </a:solidFill>
              </a:rPr>
              <a:t>Nominate reviewers from IT, security, privacy and records</a:t>
            </a:r>
            <a:endParaRPr lang="en-US" sz="1400" dirty="0"/>
          </a:p>
          <a:p>
            <a:pPr marL="342900" indent="-342900">
              <a:buSzPct val="100000"/>
              <a:buFont typeface="+mj-lt"/>
              <a:buAutoNum type="arabicPeriod" startAt="1"/>
            </a:pPr>
            <a:r>
              <a:rPr lang="en-US" sz="1400" dirty="0">
                <a:solidFill>
                  <a:srgbClr val="0E2F33"/>
                </a:solidFill>
              </a:rPr>
              <a:t>Approve the egress rule at the firewall and the model options to test</a:t>
            </a:r>
            <a:endParaRPr lang="en-US" sz="1400" dirty="0"/>
          </a:p>
        </p:txBody>
      </p:sp>
      <p:sp>
        <p:nvSpPr>
          <p:cNvPr id="23" name="deliverables heading"/>
          <p:cNvSpPr txBox="1"/>
          <p:nvPr/>
        </p:nvSpPr>
        <p:spPr>
          <a:xfrm>
            <a:off x="7818120" y="4343400"/>
            <a:ext cx="3657600" cy="320040"/>
          </a:xfrm>
          <a:prstGeom prst="rect">
            <a:avLst/>
          </a:prstGeom>
          <a:noFill/>
          <a:ln/>
        </p:spPr>
        <p:txBody>
          <a:bodyPr wrap="square" lIns="0" tIns="0" rIns="0" bIns="0" rtlCol="0" anchor="t"/>
          <a:lstStyle/>
          <a:p>
            <a:pPr indent="0" marL="0">
              <a:buNone/>
            </a:pPr>
            <a:r>
              <a:rPr lang="en-US" sz="1800" b="1" dirty="0">
                <a:solidFill>
                  <a:srgbClr val="1F7A74"/>
                </a:solidFill>
              </a:rPr>
              <a:t>At week 12 you receive</a:t>
            </a:r>
            <a:endParaRPr lang="en-US" sz="1800" dirty="0"/>
          </a:p>
        </p:txBody>
      </p:sp>
      <p:sp>
        <p:nvSpPr>
          <p:cNvPr id="24" name="deliverables list"/>
          <p:cNvSpPr txBox="1"/>
          <p:nvPr/>
        </p:nvSpPr>
        <p:spPr>
          <a:xfrm>
            <a:off x="7818120" y="4709160"/>
            <a:ext cx="3657600" cy="1463040"/>
          </a:xfrm>
          <a:prstGeom prst="rect">
            <a:avLst/>
          </a:prstGeom>
          <a:noFill/>
          <a:ln/>
        </p:spPr>
        <p:txBody>
          <a:bodyPr wrap="square" lIns="0" tIns="0" rIns="0" bIns="0" rtlCol="0" anchor="t"/>
          <a:lstStyle/>
          <a:p>
            <a:pPr marL="342900" indent="-342900">
              <a:buSzPct val="100000"/>
              <a:buChar char="•"/>
            </a:pPr>
            <a:r>
              <a:rPr lang="en-US" sz="1400" dirty="0">
                <a:solidFill>
                  <a:srgbClr val="0E2F33"/>
                </a:solidFill>
              </a:rPr>
              <a:t>A working gateway on TTC infrastructure</a:t>
            </a:r>
            <a:endParaRPr lang="en-US" sz="1400" dirty="0"/>
          </a:p>
          <a:p>
            <a:pPr marL="342900" indent="-342900">
              <a:buSzPct val="100000"/>
              <a:buChar char="•"/>
            </a:pPr>
            <a:r>
              <a:rPr lang="en-US" sz="1400" dirty="0">
                <a:solidFill>
                  <a:srgbClr val="0E2F33"/>
                </a:solidFill>
              </a:rPr>
              <a:t>A receipt chain an auditor can verify offline</a:t>
            </a:r>
            <a:endParaRPr lang="en-US" sz="1400" dirty="0"/>
          </a:p>
          <a:p>
            <a:pPr marL="342900" indent="-342900">
              <a:buSzPct val="100000"/>
              <a:buChar char="•"/>
            </a:pPr>
            <a:r>
              <a:rPr lang="en-US" sz="1400" dirty="0">
                <a:solidFill>
                  <a:srgbClr val="0E2F33"/>
                </a:solidFill>
              </a:rPr>
              <a:t>Measured results across hosted, regional and self-hosted models</a:t>
            </a:r>
            <a:endParaRPr lang="en-US" sz="1400" dirty="0"/>
          </a:p>
          <a:p>
            <a:pPr marL="342900" indent="-342900">
              <a:buSzPct val="100000"/>
              <a:buChar char="•"/>
            </a:pPr>
            <a:r>
              <a:rPr lang="en-US" sz="1400" dirty="0">
                <a:solidFill>
                  <a:srgbClr val="0E2F33"/>
                </a:solidFill>
              </a:rPr>
              <a:t>A go or no-go recommendation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666B"/>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CES AI Governance">
  <a:themeElements>
    <a:clrScheme name="CES AI Governance">
      <a:dk1>
        <a:srgbClr val="10272B"/>
      </a:dk1>
      <a:lt1>
        <a:srgbClr val="FFFFFF"/>
      </a:lt1>
      <a:dk2>
        <a:srgbClr val="0E2F33"/>
      </a:dk2>
      <a:lt2>
        <a:srgbClr val="EEF4F4"/>
      </a:lt2>
      <a:accent1>
        <a:srgbClr val="1F7A74"/>
      </a:accent1>
      <a:accent2>
        <a:srgbClr val="E39B2D"/>
      </a:accent2>
      <a:accent3>
        <a:srgbClr val="2271B3"/>
      </a:accent3>
      <a:accent4>
        <a:srgbClr val="6C3FA3"/>
      </a:accent4>
      <a:accent5>
        <a:srgbClr val="8794A0"/>
      </a:accent5>
      <a:accent6>
        <a:srgbClr val="B02A22"/>
      </a:accent6>
      <a:hlink>
        <a:srgbClr val="1F7A74"/>
      </a:hlink>
      <a:folHlink>
        <a:srgbClr val="6C3FA3"/>
      </a:folHlink>
    </a:clrScheme>
    <a:fontScheme name="CES AI Govern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Buddy with data governance: 12-week POC proposal</dc:title>
  <dc:subject>PptxGenJS Presentation</dc:subject>
  <dc:creator>Sandeep Kanao</dc:creator>
  <cp:lastModifiedBy>Sandeep Kanao</cp:lastModifiedBy>
  <cp:revision>1</cp:revision>
  <dcterms:created xsi:type="dcterms:W3CDTF">2026-10-14T19:05:48Z</dcterms:created>
  <dcterms:modified xsi:type="dcterms:W3CDTF">2026-10-14T19:05:48Z</dcterms:modified>
</cp:coreProperties>
</file>